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원본의 목적, 슬로건, 예선·본선 일정, 심사위원, 프로그램 및 시상 기준을 반영했습니다. 본선 프로그램 총 소요 시간은 원안의 총 90분을 약 90분(안)으로 조정했습니다. 발표 7분과 질의응답 2분에 5~7개 과제를 반영하면 총 80~98분이며, 6개 과제 진행 시 89분입니다.
사용 글꼴: Noto Sans KR. 원본 기준일: 2026-10-13.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_0"/>
          <p:cNvSpPr/>
          <p:nvPr/>
        </p:nvSpPr>
        <p:spPr>
          <a:xfrm>
            <a:off x="0" y="0"/>
            <a:ext cx="3352800" cy="6858000"/>
          </a:xfrm>
          <a:prstGeom prst="rect">
            <a:avLst/>
          </a:prstGeom>
          <a:solidFill>
            <a:srgbClr val="153F36"/>
          </a:solidFill>
          <a:ln w="12700">
            <a:solidFill>
              <a:srgbClr val="153F36">
                <a:alpha val="0"/>
              </a:srgbClr>
            </a:solidFill>
            <a:prstDash val="solid"/>
          </a:ln>
        </p:spPr>
      </p:sp>
      <p:sp>
        <p:nvSpPr>
          <p:cNvPr id="3" name="rect_1"/>
          <p:cNvSpPr/>
          <p:nvPr/>
        </p:nvSpPr>
        <p:spPr>
          <a:xfrm>
            <a:off x="426720" y="464820"/>
            <a:ext cx="274320" cy="38100"/>
          </a:xfrm>
          <a:prstGeom prst="rect">
            <a:avLst/>
          </a:prstGeom>
          <a:solidFill>
            <a:srgbClr val="DCECC9"/>
          </a:solidFill>
          <a:ln w="12700">
            <a:solidFill>
              <a:srgbClr val="DCECC9">
                <a:alpha val="0"/>
              </a:srgbClr>
            </a:solidFill>
            <a:prstDash val="solid"/>
          </a:ln>
        </p:spPr>
      </p:sp>
      <p:sp>
        <p:nvSpPr>
          <p:cNvPr id="4" name="2026년 품질팀"/>
          <p:cNvSpPr txBox="1"/>
          <p:nvPr/>
        </p:nvSpPr>
        <p:spPr>
          <a:xfrm>
            <a:off x="426720" y="716280"/>
            <a:ext cx="2545080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20" b="1" dirty="0">
                <a:solidFill>
                  <a:srgbClr val="E8EFE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품질팀</a:t>
            </a:r>
            <a:endParaRPr lang="ko-KR" sz="1620" dirty="0"/>
          </a:p>
        </p:txBody>
      </p:sp>
      <p:sp>
        <p:nvSpPr>
          <p:cNvPr id="5" name="AI 실행 결과 발표 대회 (안)"/>
          <p:cNvSpPr txBox="1"/>
          <p:nvPr/>
        </p:nvSpPr>
        <p:spPr>
          <a:xfrm>
            <a:off x="403860" y="1097280"/>
            <a:ext cx="2636520" cy="520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5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실행 결과</a:t>
            </a:r>
            <a:endParaRPr lang="ko-KR" sz="2580" dirty="0"/>
          </a:p>
        </p:txBody>
      </p:sp>
      <p:sp>
        <p:nvSpPr>
          <p:cNvPr id="6" name="AI 실행 결과 발표 대회 (안)_1"/>
          <p:cNvSpPr txBox="1"/>
          <p:nvPr/>
        </p:nvSpPr>
        <p:spPr>
          <a:xfrm>
            <a:off x="403860" y="1510132"/>
            <a:ext cx="2636520" cy="520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5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대회 (안)</a:t>
            </a:r>
            <a:endParaRPr lang="ko-KR" sz="2580" dirty="0"/>
          </a:p>
        </p:txBody>
      </p:sp>
      <p:sp>
        <p:nvSpPr>
          <p:cNvPr id="7" name="AI 우수 과제와 AI 활용 역량 향상 사례 공유로 품질팀 AI 실천 문화 확산"/>
          <p:cNvSpPr txBox="1"/>
          <p:nvPr/>
        </p:nvSpPr>
        <p:spPr>
          <a:xfrm>
            <a:off x="426720" y="2179320"/>
            <a:ext cx="256032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D3E0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우수 과제와</a:t>
            </a:r>
            <a:endParaRPr lang="ko-KR" sz="1320" dirty="0"/>
          </a:p>
        </p:txBody>
      </p:sp>
      <p:sp>
        <p:nvSpPr>
          <p:cNvPr id="8" name="AI 우수 과제와 AI 활용 역량 향상 사례 공유로 품질팀 AI 실천 문화 확산_1"/>
          <p:cNvSpPr txBox="1"/>
          <p:nvPr/>
        </p:nvSpPr>
        <p:spPr>
          <a:xfrm>
            <a:off x="426720" y="2439162"/>
            <a:ext cx="256032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D3E0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역량 향상 사례 공유로</a:t>
            </a:r>
            <a:endParaRPr lang="ko-KR" sz="1320" dirty="0"/>
          </a:p>
        </p:txBody>
      </p:sp>
      <p:sp>
        <p:nvSpPr>
          <p:cNvPr id="9" name="AI 우수 과제와 AI 활용 역량 향상 사례 공유로 품질팀 AI 실천 문화 확산_2"/>
          <p:cNvSpPr txBox="1"/>
          <p:nvPr/>
        </p:nvSpPr>
        <p:spPr>
          <a:xfrm>
            <a:off x="426720" y="2699004"/>
            <a:ext cx="256032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D3E0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 AI 실천 문화 확산</a:t>
            </a:r>
            <a:endParaRPr lang="ko-KR" sz="1320" dirty="0"/>
          </a:p>
        </p:txBody>
      </p:sp>
      <p:sp>
        <p:nvSpPr>
          <p:cNvPr id="10" name="line_5"/>
          <p:cNvSpPr/>
          <p:nvPr/>
        </p:nvSpPr>
        <p:spPr>
          <a:xfrm>
            <a:off x="426720" y="3215640"/>
            <a:ext cx="2499360" cy="0"/>
          </a:xfrm>
          <a:prstGeom prst="line">
            <a:avLst/>
          </a:prstGeom>
          <a:noFill/>
          <a:ln w="7620">
            <a:solidFill>
              <a:srgbClr val="4D7064"/>
            </a:solidFill>
            <a:prstDash val="solid"/>
            <a:headEnd type="none"/>
            <a:tailEnd type="none"/>
          </a:ln>
        </p:spPr>
      </p:sp>
      <p:sp>
        <p:nvSpPr>
          <p:cNvPr id="11" name="AI를 학습하는 단계에서,"/>
          <p:cNvSpPr txBox="1"/>
          <p:nvPr/>
        </p:nvSpPr>
        <p:spPr>
          <a:xfrm>
            <a:off x="426720" y="3535680"/>
            <a:ext cx="256794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D3E0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AI를 학습하는 단계에서,</a:t>
            </a:r>
            <a:endParaRPr lang="ko-KR" sz="1440" dirty="0"/>
          </a:p>
        </p:txBody>
      </p:sp>
      <p:sp>
        <p:nvSpPr>
          <p:cNvPr id="12" name="활용하고 성과 내는 AI로"/>
          <p:cNvSpPr txBox="1"/>
          <p:nvPr/>
        </p:nvSpPr>
        <p:spPr>
          <a:xfrm>
            <a:off x="411480" y="3870960"/>
            <a:ext cx="2606040" cy="451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20" b="1" dirty="0">
                <a:solidFill>
                  <a:srgbClr val="DCEC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활용하고</a:t>
            </a:r>
            <a:endParaRPr lang="ko-KR" sz="2220" dirty="0"/>
          </a:p>
        </p:txBody>
      </p:sp>
      <p:sp>
        <p:nvSpPr>
          <p:cNvPr id="13" name="활용하고 성과 내는 AI로_1"/>
          <p:cNvSpPr txBox="1"/>
          <p:nvPr/>
        </p:nvSpPr>
        <p:spPr>
          <a:xfrm>
            <a:off x="411480" y="4248760"/>
            <a:ext cx="2606040" cy="451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220" b="1" dirty="0">
                <a:solidFill>
                  <a:srgbClr val="DCECC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 내는 AI로</a:t>
            </a:r>
            <a:endParaRPr lang="ko-KR" sz="2220" dirty="0"/>
          </a:p>
        </p:txBody>
      </p:sp>
      <p:sp>
        <p:nvSpPr>
          <p:cNvPr id="14" name="line_8"/>
          <p:cNvSpPr/>
          <p:nvPr/>
        </p:nvSpPr>
        <p:spPr>
          <a:xfrm>
            <a:off x="426720" y="5006340"/>
            <a:ext cx="2499360" cy="0"/>
          </a:xfrm>
          <a:prstGeom prst="line">
            <a:avLst/>
          </a:prstGeom>
          <a:noFill/>
          <a:ln w="7620">
            <a:solidFill>
              <a:srgbClr val="4D7064"/>
            </a:solidFill>
            <a:prstDash val="solid"/>
            <a:headEnd type="none"/>
            <a:tailEnd type="none"/>
          </a:ln>
        </p:spPr>
      </p:sp>
      <p:sp>
        <p:nvSpPr>
          <p:cNvPr id="15" name="본선 우수 과제"/>
          <p:cNvSpPr txBox="1"/>
          <p:nvPr/>
        </p:nvSpPr>
        <p:spPr>
          <a:xfrm>
            <a:off x="426720" y="5250180"/>
            <a:ext cx="114300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B6C9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우수 과제</a:t>
            </a:r>
            <a:endParaRPr lang="ko-KR" sz="1080" dirty="0"/>
          </a:p>
        </p:txBody>
      </p:sp>
      <p:sp>
        <p:nvSpPr>
          <p:cNvPr id="16" name="5~7건"/>
          <p:cNvSpPr txBox="1"/>
          <p:nvPr/>
        </p:nvSpPr>
        <p:spPr>
          <a:xfrm>
            <a:off x="411480" y="5494020"/>
            <a:ext cx="1325880" cy="5209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5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5~7건</a:t>
            </a:r>
            <a:endParaRPr lang="ko-KR" sz="2580" dirty="0"/>
          </a:p>
        </p:txBody>
      </p:sp>
      <p:sp>
        <p:nvSpPr>
          <p:cNvPr id="17" name="line_11"/>
          <p:cNvSpPr/>
          <p:nvPr/>
        </p:nvSpPr>
        <p:spPr>
          <a:xfrm>
            <a:off x="1805940" y="5303520"/>
            <a:ext cx="0" cy="624840"/>
          </a:xfrm>
          <a:prstGeom prst="line">
            <a:avLst/>
          </a:prstGeom>
          <a:noFill/>
          <a:ln w="7620">
            <a:solidFill>
              <a:srgbClr val="4D7064"/>
            </a:solidFill>
            <a:prstDash val="solid"/>
            <a:headEnd type="none"/>
            <a:tailEnd type="none"/>
          </a:ln>
        </p:spPr>
      </p:sp>
      <p:sp>
        <p:nvSpPr>
          <p:cNvPr id="18" name="본선 개최"/>
          <p:cNvSpPr txBox="1"/>
          <p:nvPr/>
        </p:nvSpPr>
        <p:spPr>
          <a:xfrm>
            <a:off x="2026920" y="5250180"/>
            <a:ext cx="111252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B6C9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개최</a:t>
            </a:r>
            <a:endParaRPr lang="ko-KR" sz="1080" dirty="0"/>
          </a:p>
        </p:txBody>
      </p:sp>
      <p:sp>
        <p:nvSpPr>
          <p:cNvPr id="19" name="11월 2주"/>
          <p:cNvSpPr txBox="1"/>
          <p:nvPr/>
        </p:nvSpPr>
        <p:spPr>
          <a:xfrm>
            <a:off x="2011680" y="5554980"/>
            <a:ext cx="1143000" cy="347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6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 2주</a:t>
            </a:r>
            <a:endParaRPr lang="ko-KR" sz="1680" dirty="0"/>
          </a:p>
        </p:txBody>
      </p:sp>
      <p:sp>
        <p:nvSpPr>
          <p:cNvPr id="20" name="2026.10.13."/>
          <p:cNvSpPr txBox="1"/>
          <p:nvPr/>
        </p:nvSpPr>
        <p:spPr>
          <a:xfrm>
            <a:off x="426720" y="6347460"/>
            <a:ext cx="167640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B6C9B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2026.10.13.</a:t>
            </a:r>
            <a:endParaRPr lang="ko-KR" sz="1200" dirty="0"/>
          </a:p>
        </p:txBody>
      </p:sp>
      <p:sp>
        <p:nvSpPr>
          <p:cNvPr id="21" name="01"/>
          <p:cNvSpPr txBox="1"/>
          <p:nvPr/>
        </p:nvSpPr>
        <p:spPr>
          <a:xfrm>
            <a:off x="3764280" y="388620"/>
            <a:ext cx="35814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8191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320" dirty="0"/>
          </a:p>
        </p:txBody>
      </p:sp>
      <p:sp>
        <p:nvSpPr>
          <p:cNvPr id="22" name="운영 계획"/>
          <p:cNvSpPr txBox="1"/>
          <p:nvPr/>
        </p:nvSpPr>
        <p:spPr>
          <a:xfrm>
            <a:off x="4175760" y="350520"/>
            <a:ext cx="4724400" cy="3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계획</a:t>
            </a:r>
            <a:endParaRPr lang="ko-KR" sz="1740" dirty="0"/>
          </a:p>
        </p:txBody>
      </p:sp>
      <p:sp>
        <p:nvSpPr>
          <p:cNvPr id="23" name="line_17"/>
          <p:cNvSpPr/>
          <p:nvPr/>
        </p:nvSpPr>
        <p:spPr>
          <a:xfrm>
            <a:off x="3764280" y="72390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24" name="rect_18"/>
          <p:cNvSpPr/>
          <p:nvPr/>
        </p:nvSpPr>
        <p:spPr>
          <a:xfrm>
            <a:off x="3764280" y="906780"/>
            <a:ext cx="3870960" cy="990600"/>
          </a:xfrm>
          <a:prstGeom prst="roundRect">
            <a:avLst>
              <a:gd name="adj" fmla="val 9231"/>
            </a:avLst>
          </a:prstGeom>
          <a:solidFill>
            <a:srgbClr val="EFF2EB"/>
          </a:solidFill>
          <a:ln w="12700">
            <a:solidFill>
              <a:srgbClr val="EFF2EB">
                <a:alpha val="0"/>
              </a:srgbClr>
            </a:solidFill>
            <a:prstDash val="solid"/>
          </a:ln>
        </p:spPr>
      </p:sp>
      <p:sp>
        <p:nvSpPr>
          <p:cNvPr id="25" name="rect_19"/>
          <p:cNvSpPr/>
          <p:nvPr/>
        </p:nvSpPr>
        <p:spPr>
          <a:xfrm>
            <a:off x="7802880" y="906780"/>
            <a:ext cx="3962400" cy="990600"/>
          </a:xfrm>
          <a:prstGeom prst="roundRect">
            <a:avLst>
              <a:gd name="adj" fmla="val 9231"/>
            </a:avLst>
          </a:prstGeom>
          <a:solidFill>
            <a:srgbClr val="EFF2EB"/>
          </a:solidFill>
          <a:ln w="12700">
            <a:solidFill>
              <a:srgbClr val="EFF2EB">
                <a:alpha val="0"/>
              </a:srgbClr>
            </a:solidFill>
            <a:prstDash val="solid"/>
          </a:ln>
        </p:spPr>
      </p:sp>
      <p:sp>
        <p:nvSpPr>
          <p:cNvPr id="26" name="예선"/>
          <p:cNvSpPr txBox="1"/>
          <p:nvPr/>
        </p:nvSpPr>
        <p:spPr>
          <a:xfrm>
            <a:off x="3947160" y="1059180"/>
            <a:ext cx="6705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예선</a:t>
            </a:r>
            <a:endParaRPr lang="ko-KR" sz="1500" dirty="0"/>
          </a:p>
        </p:txBody>
      </p:sp>
      <p:sp>
        <p:nvSpPr>
          <p:cNvPr id="27" name="~10월"/>
          <p:cNvSpPr txBox="1"/>
          <p:nvPr/>
        </p:nvSpPr>
        <p:spPr>
          <a:xfrm>
            <a:off x="5928360" y="1082040"/>
            <a:ext cx="150876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153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~10월</a:t>
            </a:r>
            <a:endParaRPr lang="ko-KR" sz="1320" dirty="0"/>
          </a:p>
        </p:txBody>
      </p:sp>
      <p:sp>
        <p:nvSpPr>
          <p:cNvPr id="28" name="그룹·PJT별 우수 과제 1~2건 추천"/>
          <p:cNvSpPr txBox="1"/>
          <p:nvPr/>
        </p:nvSpPr>
        <p:spPr>
          <a:xfrm>
            <a:off x="3947160" y="1386840"/>
            <a:ext cx="342900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그룹·PJT별 우수 과제</a:t>
            </a:r>
            <a:endParaRPr lang="ko-KR" sz="1320" dirty="0"/>
          </a:p>
        </p:txBody>
      </p:sp>
      <p:sp>
        <p:nvSpPr>
          <p:cNvPr id="29" name="그룹·PJT별 우수 과제 1~2건 추천_1"/>
          <p:cNvSpPr txBox="1"/>
          <p:nvPr/>
        </p:nvSpPr>
        <p:spPr>
          <a:xfrm>
            <a:off x="3947160" y="1613154"/>
            <a:ext cx="342900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1~2건 추천</a:t>
            </a:r>
            <a:endParaRPr lang="ko-KR" sz="1320" dirty="0"/>
          </a:p>
        </p:txBody>
      </p:sp>
      <p:sp>
        <p:nvSpPr>
          <p:cNvPr id="30" name="본선"/>
          <p:cNvSpPr txBox="1"/>
          <p:nvPr/>
        </p:nvSpPr>
        <p:spPr>
          <a:xfrm>
            <a:off x="7985760" y="1059180"/>
            <a:ext cx="6705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500" b="1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</a:t>
            </a:r>
            <a:endParaRPr lang="ko-KR" sz="1500" dirty="0"/>
          </a:p>
        </p:txBody>
      </p:sp>
      <p:sp>
        <p:nvSpPr>
          <p:cNvPr id="31" name="11월 2주"/>
          <p:cNvSpPr txBox="1"/>
          <p:nvPr/>
        </p:nvSpPr>
        <p:spPr>
          <a:xfrm>
            <a:off x="9730740" y="1082040"/>
            <a:ext cx="182118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153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11월 2주</a:t>
            </a:r>
            <a:endParaRPr lang="ko-KR" sz="1320" dirty="0"/>
          </a:p>
        </p:txBody>
      </p:sp>
      <p:sp>
        <p:nvSpPr>
          <p:cNvPr id="32" name="우수 과제 5~7건 과제별 발표 7분 + 질의응답 2분"/>
          <p:cNvSpPr txBox="1"/>
          <p:nvPr/>
        </p:nvSpPr>
        <p:spPr>
          <a:xfrm>
            <a:off x="7985760" y="1386840"/>
            <a:ext cx="359664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우수 과제 5~7건</a:t>
            </a:r>
            <a:endParaRPr lang="ko-KR" sz="1320" dirty="0"/>
          </a:p>
        </p:txBody>
      </p:sp>
      <p:sp>
        <p:nvSpPr>
          <p:cNvPr id="33" name="우수 과제 5~7건 과제별 발표 7분 + 질의응답 2분_1"/>
          <p:cNvSpPr txBox="1"/>
          <p:nvPr/>
        </p:nvSpPr>
        <p:spPr>
          <a:xfrm>
            <a:off x="7985760" y="1613154"/>
            <a:ext cx="359664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과제별 발표 7분 + 질의응답 2분</a:t>
            </a:r>
            <a:endParaRPr lang="ko-KR" sz="1320" dirty="0"/>
          </a:p>
        </p:txBody>
      </p:sp>
      <p:sp>
        <p:nvSpPr>
          <p:cNvPr id="34" name="심사위원"/>
          <p:cNvSpPr txBox="1"/>
          <p:nvPr/>
        </p:nvSpPr>
        <p:spPr>
          <a:xfrm>
            <a:off x="3794760" y="2049780"/>
            <a:ext cx="83058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심사위원</a:t>
            </a:r>
            <a:endParaRPr lang="ko-KR" sz="1200" dirty="0"/>
          </a:p>
        </p:txBody>
      </p:sp>
      <p:sp>
        <p:nvSpPr>
          <p:cNvPr id="35" name="품질팀장 · 그룹장/PL"/>
          <p:cNvSpPr txBox="1"/>
          <p:nvPr/>
        </p:nvSpPr>
        <p:spPr>
          <a:xfrm>
            <a:off x="4686300" y="2049780"/>
            <a:ext cx="701040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 · 그룹장/PL</a:t>
            </a:r>
            <a:endParaRPr lang="ko-KR" sz="1260" dirty="0"/>
          </a:p>
        </p:txBody>
      </p:sp>
      <p:sp>
        <p:nvSpPr>
          <p:cNvPr id="36" name="02"/>
          <p:cNvSpPr txBox="1"/>
          <p:nvPr/>
        </p:nvSpPr>
        <p:spPr>
          <a:xfrm>
            <a:off x="3764280" y="2545080"/>
            <a:ext cx="35814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8191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320" dirty="0"/>
          </a:p>
        </p:txBody>
      </p:sp>
      <p:sp>
        <p:nvSpPr>
          <p:cNvPr id="37" name="진행 프로그램"/>
          <p:cNvSpPr txBox="1"/>
          <p:nvPr/>
        </p:nvSpPr>
        <p:spPr>
          <a:xfrm>
            <a:off x="4175760" y="2506980"/>
            <a:ext cx="4724400" cy="3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 프로그램</a:t>
            </a:r>
            <a:endParaRPr lang="ko-KR" sz="1740" dirty="0"/>
          </a:p>
        </p:txBody>
      </p:sp>
      <p:sp>
        <p:nvSpPr>
          <p:cNvPr id="38" name="rect_30"/>
          <p:cNvSpPr/>
          <p:nvPr/>
        </p:nvSpPr>
        <p:spPr>
          <a:xfrm>
            <a:off x="10576560" y="2514600"/>
            <a:ext cx="1188720" cy="281940"/>
          </a:xfrm>
          <a:prstGeom prst="roundRect">
            <a:avLst>
              <a:gd name="adj" fmla="val 50000"/>
            </a:avLst>
          </a:prstGeom>
          <a:solidFill>
            <a:srgbClr val="E7EDDF"/>
          </a:solidFill>
          <a:ln w="12700">
            <a:solidFill>
              <a:srgbClr val="E7EDDF">
                <a:alpha val="0"/>
              </a:srgbClr>
            </a:solidFill>
            <a:prstDash val="solid"/>
          </a:ln>
        </p:spPr>
      </p:sp>
      <p:sp>
        <p:nvSpPr>
          <p:cNvPr id="39" name="약 90분 (안)"/>
          <p:cNvSpPr txBox="1"/>
          <p:nvPr/>
        </p:nvSpPr>
        <p:spPr>
          <a:xfrm>
            <a:off x="10576560" y="2552700"/>
            <a:ext cx="118872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153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90분 (안)</a:t>
            </a:r>
            <a:endParaRPr lang="ko-KR" sz="1200" dirty="0"/>
          </a:p>
        </p:txBody>
      </p:sp>
      <p:sp>
        <p:nvSpPr>
          <p:cNvPr id="40" name="line_32"/>
          <p:cNvSpPr/>
          <p:nvPr/>
        </p:nvSpPr>
        <p:spPr>
          <a:xfrm>
            <a:off x="3764280" y="291084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41" name="프로그램"/>
          <p:cNvSpPr txBox="1"/>
          <p:nvPr/>
        </p:nvSpPr>
        <p:spPr>
          <a:xfrm>
            <a:off x="3886200" y="3025140"/>
            <a:ext cx="342900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b="1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프로그램</a:t>
            </a:r>
            <a:endParaRPr lang="ko-KR" sz="1080" dirty="0"/>
          </a:p>
        </p:txBody>
      </p:sp>
      <p:sp>
        <p:nvSpPr>
          <p:cNvPr id="42" name="시간"/>
          <p:cNvSpPr txBox="1"/>
          <p:nvPr/>
        </p:nvSpPr>
        <p:spPr>
          <a:xfrm>
            <a:off x="7642860" y="3025140"/>
            <a:ext cx="144780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b="1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시간</a:t>
            </a:r>
            <a:endParaRPr lang="ko-KR" sz="1080" dirty="0"/>
          </a:p>
        </p:txBody>
      </p:sp>
      <p:sp>
        <p:nvSpPr>
          <p:cNvPr id="43" name="진행"/>
          <p:cNvSpPr txBox="1"/>
          <p:nvPr/>
        </p:nvSpPr>
        <p:spPr>
          <a:xfrm>
            <a:off x="9578340" y="3025140"/>
            <a:ext cx="2087880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b="1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진행</a:t>
            </a:r>
            <a:endParaRPr lang="ko-KR" sz="1080" dirty="0"/>
          </a:p>
        </p:txBody>
      </p:sp>
      <p:sp>
        <p:nvSpPr>
          <p:cNvPr id="44" name="line_36"/>
          <p:cNvSpPr/>
          <p:nvPr/>
        </p:nvSpPr>
        <p:spPr>
          <a:xfrm>
            <a:off x="3764280" y="332232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45" name="개회사·도입영상"/>
          <p:cNvSpPr txBox="1"/>
          <p:nvPr/>
        </p:nvSpPr>
        <p:spPr>
          <a:xfrm>
            <a:off x="3886200" y="3413760"/>
            <a:ext cx="35814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개회사·도입영상</a:t>
            </a:r>
            <a:endParaRPr lang="ko-KR" sz="1380" dirty="0"/>
          </a:p>
        </p:txBody>
      </p:sp>
      <p:sp>
        <p:nvSpPr>
          <p:cNvPr id="46" name="5분"/>
          <p:cNvSpPr txBox="1"/>
          <p:nvPr/>
        </p:nvSpPr>
        <p:spPr>
          <a:xfrm>
            <a:off x="7642860" y="3421380"/>
            <a:ext cx="183642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5분</a:t>
            </a:r>
            <a:endParaRPr lang="ko-KR" sz="1260" dirty="0"/>
          </a:p>
        </p:txBody>
      </p:sp>
      <p:sp>
        <p:nvSpPr>
          <p:cNvPr id="47" name="사회자"/>
          <p:cNvSpPr txBox="1"/>
          <p:nvPr/>
        </p:nvSpPr>
        <p:spPr>
          <a:xfrm>
            <a:off x="9578340" y="3421380"/>
            <a:ext cx="215646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사회자</a:t>
            </a:r>
            <a:endParaRPr lang="ko-KR" sz="1200" dirty="0"/>
          </a:p>
        </p:txBody>
      </p:sp>
      <p:sp>
        <p:nvSpPr>
          <p:cNvPr id="48" name="line_40"/>
          <p:cNvSpPr/>
          <p:nvPr/>
        </p:nvSpPr>
        <p:spPr>
          <a:xfrm>
            <a:off x="3764280" y="371856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49" name="기조연설"/>
          <p:cNvSpPr txBox="1"/>
          <p:nvPr/>
        </p:nvSpPr>
        <p:spPr>
          <a:xfrm>
            <a:off x="3886200" y="3802380"/>
            <a:ext cx="35814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기조연설</a:t>
            </a:r>
            <a:endParaRPr lang="ko-KR" sz="1380" dirty="0"/>
          </a:p>
        </p:txBody>
      </p:sp>
      <p:sp>
        <p:nvSpPr>
          <p:cNvPr id="50" name="20분"/>
          <p:cNvSpPr txBox="1"/>
          <p:nvPr/>
        </p:nvSpPr>
        <p:spPr>
          <a:xfrm>
            <a:off x="7642860" y="3810000"/>
            <a:ext cx="183642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20분</a:t>
            </a:r>
            <a:endParaRPr lang="ko-KR" sz="1260" dirty="0"/>
          </a:p>
        </p:txBody>
      </p:sp>
      <p:sp>
        <p:nvSpPr>
          <p:cNvPr id="51" name="품질팀장"/>
          <p:cNvSpPr txBox="1"/>
          <p:nvPr/>
        </p:nvSpPr>
        <p:spPr>
          <a:xfrm>
            <a:off x="9578340" y="3810000"/>
            <a:ext cx="215646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</a:t>
            </a:r>
            <a:endParaRPr lang="ko-KR" sz="1200" dirty="0"/>
          </a:p>
        </p:txBody>
      </p:sp>
      <p:sp>
        <p:nvSpPr>
          <p:cNvPr id="52" name="line_44"/>
          <p:cNvSpPr/>
          <p:nvPr/>
        </p:nvSpPr>
        <p:spPr>
          <a:xfrm>
            <a:off x="3764280" y="410718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53" name="본선 발표"/>
          <p:cNvSpPr txBox="1"/>
          <p:nvPr/>
        </p:nvSpPr>
        <p:spPr>
          <a:xfrm>
            <a:off x="3886200" y="4191000"/>
            <a:ext cx="35814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b="1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본선 발표</a:t>
            </a:r>
            <a:endParaRPr lang="ko-KR" sz="1380" dirty="0"/>
          </a:p>
        </p:txBody>
      </p:sp>
      <p:sp>
        <p:nvSpPr>
          <p:cNvPr id="54" name="7분 + Q&amp;amp;A 2분"/>
          <p:cNvSpPr txBox="1"/>
          <p:nvPr/>
        </p:nvSpPr>
        <p:spPr>
          <a:xfrm>
            <a:off x="7642860" y="4198620"/>
            <a:ext cx="183642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7분 + Q&amp;A 2분</a:t>
            </a:r>
            <a:endParaRPr lang="ko-KR" sz="1260" dirty="0"/>
          </a:p>
        </p:txBody>
      </p:sp>
      <p:sp>
        <p:nvSpPr>
          <p:cNvPr id="55" name="과제 발표자"/>
          <p:cNvSpPr txBox="1"/>
          <p:nvPr/>
        </p:nvSpPr>
        <p:spPr>
          <a:xfrm>
            <a:off x="9578340" y="4198620"/>
            <a:ext cx="215646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발표자</a:t>
            </a:r>
            <a:endParaRPr lang="ko-KR" sz="1200" dirty="0"/>
          </a:p>
        </p:txBody>
      </p:sp>
      <p:sp>
        <p:nvSpPr>
          <p:cNvPr id="56" name="line_48"/>
          <p:cNvSpPr/>
          <p:nvPr/>
        </p:nvSpPr>
        <p:spPr>
          <a:xfrm>
            <a:off x="3764280" y="449580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57" name="심사·시상"/>
          <p:cNvSpPr txBox="1"/>
          <p:nvPr/>
        </p:nvSpPr>
        <p:spPr>
          <a:xfrm>
            <a:off x="3886200" y="4579620"/>
            <a:ext cx="3581400" cy="28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8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심사·시상</a:t>
            </a:r>
            <a:endParaRPr lang="ko-KR" sz="1380" dirty="0"/>
          </a:p>
        </p:txBody>
      </p:sp>
      <p:sp>
        <p:nvSpPr>
          <p:cNvPr id="58" name="10분"/>
          <p:cNvSpPr txBox="1"/>
          <p:nvPr/>
        </p:nvSpPr>
        <p:spPr>
          <a:xfrm>
            <a:off x="7642860" y="4587240"/>
            <a:ext cx="1836420" cy="26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60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10분</a:t>
            </a:r>
            <a:endParaRPr lang="ko-KR" sz="1260" dirty="0"/>
          </a:p>
        </p:txBody>
      </p:sp>
      <p:sp>
        <p:nvSpPr>
          <p:cNvPr id="59" name="품질팀장·그룹장/PL"/>
          <p:cNvSpPr txBox="1"/>
          <p:nvPr/>
        </p:nvSpPr>
        <p:spPr>
          <a:xfrm>
            <a:off x="9578340" y="4587240"/>
            <a:ext cx="2156460" cy="2545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품질팀장·그룹장/PL</a:t>
            </a:r>
            <a:endParaRPr lang="ko-KR" sz="1200" dirty="0"/>
          </a:p>
        </p:txBody>
      </p:sp>
      <p:sp>
        <p:nvSpPr>
          <p:cNvPr id="60" name="line_52"/>
          <p:cNvSpPr/>
          <p:nvPr/>
        </p:nvSpPr>
        <p:spPr>
          <a:xfrm>
            <a:off x="3764280" y="4884420"/>
            <a:ext cx="8001000" cy="0"/>
          </a:xfrm>
          <a:prstGeom prst="line">
            <a:avLst/>
          </a:prstGeom>
          <a:noFill/>
          <a:ln w="7620">
            <a:solidFill>
              <a:srgbClr val="DCE3D8"/>
            </a:solidFill>
            <a:prstDash val="solid"/>
            <a:headEnd type="none"/>
            <a:tailEnd type="none"/>
          </a:ln>
        </p:spPr>
      </p:sp>
      <p:sp>
        <p:nvSpPr>
          <p:cNvPr id="61" name="03"/>
          <p:cNvSpPr txBox="1"/>
          <p:nvPr/>
        </p:nvSpPr>
        <p:spPr>
          <a:xfrm>
            <a:off x="3764280" y="5166360"/>
            <a:ext cx="358140" cy="277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320" b="1" dirty="0">
                <a:solidFill>
                  <a:srgbClr val="81917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320" dirty="0"/>
          </a:p>
        </p:txBody>
      </p:sp>
      <p:sp>
        <p:nvSpPr>
          <p:cNvPr id="62" name="시상 부문"/>
          <p:cNvSpPr txBox="1"/>
          <p:nvPr/>
        </p:nvSpPr>
        <p:spPr>
          <a:xfrm>
            <a:off x="4175760" y="5128260"/>
            <a:ext cx="4724400" cy="35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740" b="1" dirty="0">
                <a:solidFill>
                  <a:srgbClr val="1F36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시상 부문</a:t>
            </a:r>
            <a:endParaRPr lang="ko-KR" sz="1740" dirty="0"/>
          </a:p>
        </p:txBody>
      </p:sp>
      <p:sp>
        <p:nvSpPr>
          <p:cNvPr id="63" name="rect_55"/>
          <p:cNvSpPr/>
          <p:nvPr/>
        </p:nvSpPr>
        <p:spPr>
          <a:xfrm>
            <a:off x="3764280" y="5593080"/>
            <a:ext cx="2575560" cy="84582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7620">
            <a:solidFill>
              <a:srgbClr val="DCE3D8"/>
            </a:solidFill>
            <a:prstDash val="solid"/>
          </a:ln>
        </p:spPr>
      </p:sp>
      <p:sp>
        <p:nvSpPr>
          <p:cNvPr id="64" name="rect_56"/>
          <p:cNvSpPr/>
          <p:nvPr/>
        </p:nvSpPr>
        <p:spPr>
          <a:xfrm>
            <a:off x="3931920" y="5768340"/>
            <a:ext cx="30480" cy="167640"/>
          </a:xfrm>
          <a:prstGeom prst="roundRect">
            <a:avLst>
              <a:gd name="adj" fmla="val 50000"/>
            </a:avLst>
          </a:prstGeom>
          <a:solidFill>
            <a:srgbClr val="153F36"/>
          </a:solidFill>
          <a:ln w="12700">
            <a:solidFill>
              <a:srgbClr val="153F36">
                <a:alpha val="0"/>
              </a:srgbClr>
            </a:solidFill>
            <a:prstDash val="solid"/>
          </a:ln>
        </p:spPr>
      </p:sp>
      <p:sp>
        <p:nvSpPr>
          <p:cNvPr id="65" name="과제 우수상"/>
          <p:cNvSpPr txBox="1"/>
          <p:nvPr/>
        </p:nvSpPr>
        <p:spPr>
          <a:xfrm>
            <a:off x="4069080" y="5722620"/>
            <a:ext cx="211074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53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과제 우수상</a:t>
            </a:r>
            <a:endParaRPr lang="ko-KR" sz="1440" dirty="0"/>
          </a:p>
        </p:txBody>
      </p:sp>
      <p:sp>
        <p:nvSpPr>
          <p:cNvPr id="66" name="AI 과제 완성도·과제 성과"/>
          <p:cNvSpPr txBox="1"/>
          <p:nvPr/>
        </p:nvSpPr>
        <p:spPr>
          <a:xfrm>
            <a:off x="3931920" y="6096000"/>
            <a:ext cx="227076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과제 완성도·과제 성과</a:t>
            </a:r>
            <a:endParaRPr lang="ko-KR" sz="1140" dirty="0"/>
          </a:p>
        </p:txBody>
      </p:sp>
      <p:sp>
        <p:nvSpPr>
          <p:cNvPr id="67" name="rect_59"/>
          <p:cNvSpPr/>
          <p:nvPr/>
        </p:nvSpPr>
        <p:spPr>
          <a:xfrm>
            <a:off x="6477000" y="5593080"/>
            <a:ext cx="2575560" cy="84582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7620">
            <a:solidFill>
              <a:srgbClr val="DCE3D8"/>
            </a:solidFill>
            <a:prstDash val="solid"/>
          </a:ln>
        </p:spPr>
      </p:sp>
      <p:sp>
        <p:nvSpPr>
          <p:cNvPr id="68" name="rect_60"/>
          <p:cNvSpPr/>
          <p:nvPr/>
        </p:nvSpPr>
        <p:spPr>
          <a:xfrm>
            <a:off x="6644640" y="5768340"/>
            <a:ext cx="30480" cy="167640"/>
          </a:xfrm>
          <a:prstGeom prst="roundRect">
            <a:avLst>
              <a:gd name="adj" fmla="val 50000"/>
            </a:avLst>
          </a:prstGeom>
          <a:solidFill>
            <a:srgbClr val="153F36"/>
          </a:solidFill>
          <a:ln w="12700">
            <a:solidFill>
              <a:srgbClr val="153F36">
                <a:alpha val="0"/>
              </a:srgbClr>
            </a:solidFill>
            <a:prstDash val="solid"/>
          </a:ln>
        </p:spPr>
      </p:sp>
      <p:sp>
        <p:nvSpPr>
          <p:cNvPr id="69" name="개인 발전상"/>
          <p:cNvSpPr txBox="1"/>
          <p:nvPr/>
        </p:nvSpPr>
        <p:spPr>
          <a:xfrm>
            <a:off x="6781800" y="5722620"/>
            <a:ext cx="211074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53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발전상</a:t>
            </a:r>
            <a:endParaRPr lang="ko-KR" sz="1440" dirty="0"/>
          </a:p>
        </p:txBody>
      </p:sp>
      <p:sp>
        <p:nvSpPr>
          <p:cNvPr id="70" name="AI 활용 역량 향상"/>
          <p:cNvSpPr txBox="1"/>
          <p:nvPr/>
        </p:nvSpPr>
        <p:spPr>
          <a:xfrm>
            <a:off x="6644640" y="6096000"/>
            <a:ext cx="227076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활용 역량 향상</a:t>
            </a:r>
            <a:endParaRPr lang="ko-KR" sz="1140" dirty="0"/>
          </a:p>
        </p:txBody>
      </p:sp>
      <p:sp>
        <p:nvSpPr>
          <p:cNvPr id="71" name="rect_63"/>
          <p:cNvSpPr/>
          <p:nvPr/>
        </p:nvSpPr>
        <p:spPr>
          <a:xfrm>
            <a:off x="9189720" y="5593080"/>
            <a:ext cx="2575560" cy="845820"/>
          </a:xfrm>
          <a:prstGeom prst="roundRect">
            <a:avLst>
              <a:gd name="adj" fmla="val 9009"/>
            </a:avLst>
          </a:prstGeom>
          <a:solidFill>
            <a:srgbClr val="FFFFFF"/>
          </a:solidFill>
          <a:ln w="7620">
            <a:solidFill>
              <a:srgbClr val="DCE3D8"/>
            </a:solidFill>
            <a:prstDash val="solid"/>
          </a:ln>
        </p:spPr>
      </p:sp>
      <p:sp>
        <p:nvSpPr>
          <p:cNvPr id="72" name="rect_64"/>
          <p:cNvSpPr/>
          <p:nvPr/>
        </p:nvSpPr>
        <p:spPr>
          <a:xfrm>
            <a:off x="9357360" y="5768340"/>
            <a:ext cx="30480" cy="167640"/>
          </a:xfrm>
          <a:prstGeom prst="roundRect">
            <a:avLst>
              <a:gd name="adj" fmla="val 50000"/>
            </a:avLst>
          </a:prstGeom>
          <a:solidFill>
            <a:srgbClr val="153F36"/>
          </a:solidFill>
          <a:ln w="12700">
            <a:solidFill>
              <a:srgbClr val="153F36">
                <a:alpha val="0"/>
              </a:srgbClr>
            </a:solidFill>
            <a:prstDash val="solid"/>
          </a:ln>
        </p:spPr>
      </p:sp>
      <p:sp>
        <p:nvSpPr>
          <p:cNvPr id="73" name="조직 실천상"/>
          <p:cNvSpPr txBox="1"/>
          <p:nvPr/>
        </p:nvSpPr>
        <p:spPr>
          <a:xfrm>
            <a:off x="9494520" y="5722620"/>
            <a:ext cx="2110740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153F3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 실천상</a:t>
            </a:r>
            <a:endParaRPr lang="ko-KR" sz="1440" dirty="0"/>
          </a:p>
        </p:txBody>
      </p:sp>
      <p:sp>
        <p:nvSpPr>
          <p:cNvPr id="74" name="조직별 AI 활용 참여·확산"/>
          <p:cNvSpPr txBox="1"/>
          <p:nvPr/>
        </p:nvSpPr>
        <p:spPr>
          <a:xfrm>
            <a:off x="9357360" y="6096000"/>
            <a:ext cx="2270760" cy="2429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140" dirty="0">
                <a:solidFill>
                  <a:srgbClr val="6879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조직별 AI 활용 참여·확산</a:t>
            </a:r>
            <a:endParaRPr lang="ko-KR" sz="11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품질팀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03_딥그린_핵심강조형</dc:title>
  <dc:subject>2026년 품질팀 AI 실행 결과 발표 대회 운영안</dc:subject>
  <dc:creator>품질팀</dc:creator>
  <cp:lastModifiedBy>품질팀</cp:lastModifiedBy>
  <cp:revision>1</cp:revision>
  <dcterms:created xsi:type="dcterms:W3CDTF">2026-10-13T02:24:32Z</dcterms:created>
  <dcterms:modified xsi:type="dcterms:W3CDTF">2026-10-13T02:24:32Z</dcterms:modified>
</cp:coreProperties>
</file>