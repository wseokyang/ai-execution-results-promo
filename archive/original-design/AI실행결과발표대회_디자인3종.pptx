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원안의 주요 내용과 범위를 유지했습니다. 원안의 총 90분은 발표 과제 수와 질의응답을 반영하면 80~98분 범위이므로 약 90분(안)으로 표기했습니다. 6건 진행 시 89분입니다. 모든 텍스트와 도형은 편집할 수 있습니다.
사용 글꼴: Noto Sans KR. 원본 기준일: 2026-10-13.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청색 타임라인을 중심으로 대회 운영, 프로그램, 시상 부문을 위에서 아래로 읽는 구성. 원본의 전체 90분은 개별 시간 합계와 차이가 있어 약 90분(안)으로 표기.
사용 글꼴: Noto Sans KR. 원본 기준일: 2026-10-13.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원본의 목적, 슬로건, 예선·본선 일정, 심사위원, 프로그램 및 시상 기준을 반영했습니다. 본선 프로그램 총 소요 시간은 원안의 총 90분을 약 90분(안)으로 조정했습니다. 발표 7분과 질의응답 2분에 5~7개 과제를 반영하면 총 80~98분이며, 6개 과제 진행 시 89분입니다.
사용 글꼴: Noto Sans KR. 원본 기준일: 2026-10-13.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"/>
          <p:cNvSpPr/>
          <p:nvPr/>
        </p:nvSpPr>
        <p:spPr>
          <a:xfrm>
            <a:off x="426720" y="327660"/>
            <a:ext cx="220980" cy="30480"/>
          </a:xfrm>
          <a:prstGeom prst="rect">
            <a:avLst/>
          </a:prstGeom>
          <a:solidFill>
            <a:srgbClr val="B98743"/>
          </a:solidFill>
          <a:ln w="12700">
            <a:solidFill>
              <a:srgbClr val="B98743">
                <a:alpha val="0"/>
              </a:srgbClr>
            </a:solidFill>
            <a:prstDash val="solid"/>
          </a:ln>
        </p:spPr>
      </p:sp>
      <p:sp>
        <p:nvSpPr>
          <p:cNvPr id="3" name="QUALITY TEAM  /  AI EXECUTION"/>
          <p:cNvSpPr txBox="1"/>
          <p:nvPr/>
        </p:nvSpPr>
        <p:spPr>
          <a:xfrm>
            <a:off x="746760" y="236220"/>
            <a:ext cx="4800600" cy="219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20" b="1" spc="66" kern="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TEAM  /  AI EXECUTION</a:t>
            </a:r>
            <a:endParaRPr lang="ko-KR" sz="1020" dirty="0"/>
          </a:p>
        </p:txBody>
      </p:sp>
      <p:sp>
        <p:nvSpPr>
          <p:cNvPr id="4" name="2026.10.13"/>
          <p:cNvSpPr txBox="1"/>
          <p:nvPr/>
        </p:nvSpPr>
        <p:spPr>
          <a:xfrm>
            <a:off x="10058400" y="236220"/>
            <a:ext cx="170688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2026.10.13</a:t>
            </a:r>
            <a:endParaRPr lang="ko-KR" sz="1080" dirty="0"/>
          </a:p>
        </p:txBody>
      </p:sp>
      <p:sp>
        <p:nvSpPr>
          <p:cNvPr id="5" name="2026년 품질팀 AI 실행 결과 발표 대회"/>
          <p:cNvSpPr txBox="1"/>
          <p:nvPr/>
        </p:nvSpPr>
        <p:spPr>
          <a:xfrm>
            <a:off x="426720" y="525780"/>
            <a:ext cx="10439400" cy="55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76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품질팀 AI 실행 결과 발표 대회</a:t>
            </a:r>
            <a:endParaRPr lang="ko-KR" sz="2760" dirty="0"/>
          </a:p>
        </p:txBody>
      </p:sp>
      <p:sp>
        <p:nvSpPr>
          <p:cNvPr id="6" name="rect_4"/>
          <p:cNvSpPr/>
          <p:nvPr/>
        </p:nvSpPr>
        <p:spPr>
          <a:xfrm>
            <a:off x="10805160" y="617220"/>
            <a:ext cx="960120" cy="289560"/>
          </a:xfrm>
          <a:prstGeom prst="roundRect">
            <a:avLst>
              <a:gd name="adj" fmla="val 50000"/>
            </a:avLst>
          </a:prstGeom>
          <a:solidFill>
            <a:srgbClr val="FBF7F0"/>
          </a:solidFill>
          <a:ln w="12700">
            <a:solidFill>
              <a:srgbClr val="FBF7F0">
                <a:alpha val="0"/>
              </a:srgbClr>
            </a:solidFill>
            <a:prstDash val="solid"/>
          </a:ln>
        </p:spPr>
      </p:sp>
      <p:sp>
        <p:nvSpPr>
          <p:cNvPr id="7" name="운영안"/>
          <p:cNvSpPr txBox="1"/>
          <p:nvPr/>
        </p:nvSpPr>
        <p:spPr>
          <a:xfrm>
            <a:off x="10805160" y="659130"/>
            <a:ext cx="96012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운영안</a:t>
            </a:r>
            <a:endParaRPr lang="ko-KR" sz="1200" dirty="0"/>
          </a:p>
        </p:txBody>
      </p:sp>
      <p:sp>
        <p:nvSpPr>
          <p:cNvPr id="8" name="AI 우수 과제와 활용 역량 향상 사례를 공유하여, 품질팀의 AI 실천 문화를 확"/>
          <p:cNvSpPr txBox="1"/>
          <p:nvPr/>
        </p:nvSpPr>
        <p:spPr>
          <a:xfrm>
            <a:off x="441960" y="1036320"/>
            <a:ext cx="1127760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우수 과제와 활용 역량 향상 사례를 공유하여, 품질팀의 AI 실천 문화를 확산합니다.</a:t>
            </a:r>
            <a:endParaRPr lang="ko-KR" sz="1440" dirty="0"/>
          </a:p>
        </p:txBody>
      </p:sp>
      <p:sp>
        <p:nvSpPr>
          <p:cNvPr id="9" name="rect_7"/>
          <p:cNvSpPr/>
          <p:nvPr/>
        </p:nvSpPr>
        <p:spPr>
          <a:xfrm>
            <a:off x="426720" y="1470660"/>
            <a:ext cx="11338560" cy="693420"/>
          </a:xfrm>
          <a:prstGeom prst="roundRect">
            <a:avLst>
              <a:gd name="adj" fmla="val 9890"/>
            </a:avLst>
          </a:prstGeom>
          <a:solidFill>
            <a:srgbClr val="10284D"/>
          </a:solidFill>
          <a:ln w="12700">
            <a:solidFill>
              <a:srgbClr val="10284D">
                <a:alpha val="0"/>
              </a:srgbClr>
            </a:solidFill>
            <a:prstDash val="solid"/>
          </a:ln>
        </p:spPr>
      </p:sp>
      <p:sp>
        <p:nvSpPr>
          <p:cNvPr id="10" name="rect_8"/>
          <p:cNvSpPr/>
          <p:nvPr/>
        </p:nvSpPr>
        <p:spPr>
          <a:xfrm>
            <a:off x="632460" y="1661160"/>
            <a:ext cx="30480" cy="297180"/>
          </a:xfrm>
          <a:prstGeom prst="rect">
            <a:avLst/>
          </a:prstGeom>
          <a:solidFill>
            <a:srgbClr val="B98743"/>
          </a:solidFill>
          <a:ln w="12700">
            <a:solidFill>
              <a:srgbClr val="B98743">
                <a:alpha val="0"/>
              </a:srgbClr>
            </a:solidFill>
            <a:prstDash val="solid"/>
          </a:ln>
        </p:spPr>
      </p:sp>
      <p:sp>
        <p:nvSpPr>
          <p:cNvPr id="11" name="AI를 학습하는 단계에서, 활용하고 성과 내는 AI로"/>
          <p:cNvSpPr txBox="1"/>
          <p:nvPr/>
        </p:nvSpPr>
        <p:spPr>
          <a:xfrm>
            <a:off x="822960" y="1645920"/>
            <a:ext cx="10439400" cy="393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9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학습하는 단계에서, 활용하고 성과 내는 AI로</a:t>
            </a:r>
            <a:endParaRPr lang="ko-KR" sz="1920" dirty="0"/>
          </a:p>
        </p:txBody>
      </p:sp>
      <p:sp>
        <p:nvSpPr>
          <p:cNvPr id="12" name="01"/>
          <p:cNvSpPr txBox="1"/>
          <p:nvPr/>
        </p:nvSpPr>
        <p:spPr>
          <a:xfrm>
            <a:off x="426720" y="2392680"/>
            <a:ext cx="3657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3" name="대회 운영 개요"/>
          <p:cNvSpPr txBox="1"/>
          <p:nvPr/>
        </p:nvSpPr>
        <p:spPr>
          <a:xfrm>
            <a:off x="792480" y="2362200"/>
            <a:ext cx="4572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대회 운영 개요</a:t>
            </a:r>
            <a:endParaRPr lang="ko-KR" sz="1680" dirty="0"/>
          </a:p>
        </p:txBody>
      </p:sp>
      <p:sp>
        <p:nvSpPr>
          <p:cNvPr id="14" name="02"/>
          <p:cNvSpPr txBox="1"/>
          <p:nvPr/>
        </p:nvSpPr>
        <p:spPr>
          <a:xfrm>
            <a:off x="6103620" y="2392680"/>
            <a:ext cx="3657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5" name="본선 프로그램"/>
          <p:cNvSpPr txBox="1"/>
          <p:nvPr/>
        </p:nvSpPr>
        <p:spPr>
          <a:xfrm>
            <a:off x="6469380" y="2362200"/>
            <a:ext cx="3429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프로그램</a:t>
            </a:r>
            <a:endParaRPr lang="ko-KR" sz="1680" dirty="0"/>
          </a:p>
        </p:txBody>
      </p:sp>
      <p:sp>
        <p:nvSpPr>
          <p:cNvPr id="16" name="rect_14"/>
          <p:cNvSpPr/>
          <p:nvPr/>
        </p:nvSpPr>
        <p:spPr>
          <a:xfrm>
            <a:off x="9517380" y="2362200"/>
            <a:ext cx="2247900" cy="274320"/>
          </a:xfrm>
          <a:prstGeom prst="roundRect">
            <a:avLst>
              <a:gd name="adj" fmla="val 50000"/>
            </a:avLst>
          </a:prstGeom>
          <a:solidFill>
            <a:srgbClr val="FBF7F0"/>
          </a:solidFill>
          <a:ln w="12700">
            <a:solidFill>
              <a:srgbClr val="FBF7F0">
                <a:alpha val="0"/>
              </a:srgbClr>
            </a:solidFill>
            <a:prstDash val="solid"/>
          </a:ln>
        </p:spPr>
      </p:sp>
      <p:sp>
        <p:nvSpPr>
          <p:cNvPr id="17" name="11월 2주 · 약 90분(안)"/>
          <p:cNvSpPr txBox="1"/>
          <p:nvPr/>
        </p:nvSpPr>
        <p:spPr>
          <a:xfrm>
            <a:off x="9517380" y="2396490"/>
            <a:ext cx="22479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 · 약 90분(안)</a:t>
            </a:r>
            <a:endParaRPr lang="ko-KR" sz="1200" dirty="0"/>
          </a:p>
        </p:txBody>
      </p:sp>
      <p:sp>
        <p:nvSpPr>
          <p:cNvPr id="18" name="rect_16"/>
          <p:cNvSpPr/>
          <p:nvPr/>
        </p:nvSpPr>
        <p:spPr>
          <a:xfrm>
            <a:off x="426720" y="2796540"/>
            <a:ext cx="5280660" cy="2042160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7620">
            <a:solidFill>
              <a:srgbClr val="DFE4EB"/>
            </a:solidFill>
            <a:prstDash val="solid"/>
          </a:ln>
        </p:spPr>
      </p:sp>
      <p:sp>
        <p:nvSpPr>
          <p:cNvPr id="19" name="rect_17"/>
          <p:cNvSpPr/>
          <p:nvPr/>
        </p:nvSpPr>
        <p:spPr>
          <a:xfrm>
            <a:off x="426720" y="2796540"/>
            <a:ext cx="1280160" cy="2042160"/>
          </a:xfrm>
          <a:prstGeom prst="roundRect">
            <a:avLst>
              <a:gd name="adj" fmla="val 2976"/>
            </a:avLst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20" name="line_18"/>
          <p:cNvSpPr/>
          <p:nvPr/>
        </p:nvSpPr>
        <p:spPr>
          <a:xfrm>
            <a:off x="426720" y="3413760"/>
            <a:ext cx="5280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21" name="line_19"/>
          <p:cNvSpPr/>
          <p:nvPr/>
        </p:nvSpPr>
        <p:spPr>
          <a:xfrm>
            <a:off x="426720" y="4206240"/>
            <a:ext cx="5280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22" name="예선"/>
          <p:cNvSpPr txBox="1"/>
          <p:nvPr/>
        </p:nvSpPr>
        <p:spPr>
          <a:xfrm>
            <a:off x="594360" y="2903220"/>
            <a:ext cx="9906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예선</a:t>
            </a:r>
            <a:endParaRPr lang="ko-KR" sz="1380" dirty="0"/>
          </a:p>
        </p:txBody>
      </p:sp>
      <p:sp>
        <p:nvSpPr>
          <p:cNvPr id="23" name="~10월"/>
          <p:cNvSpPr txBox="1"/>
          <p:nvPr/>
        </p:nvSpPr>
        <p:spPr>
          <a:xfrm>
            <a:off x="594360" y="3147060"/>
            <a:ext cx="99060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~10월</a:t>
            </a:r>
            <a:endParaRPr lang="ko-KR" sz="1140" dirty="0"/>
          </a:p>
        </p:txBody>
      </p:sp>
      <p:sp>
        <p:nvSpPr>
          <p:cNvPr id="24" name="그룹·PJT별 우수 과제 추천"/>
          <p:cNvSpPr txBox="1"/>
          <p:nvPr/>
        </p:nvSpPr>
        <p:spPr>
          <a:xfrm>
            <a:off x="1874520" y="2887980"/>
            <a:ext cx="36957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그룹·PJT별 우수 과제 추천</a:t>
            </a:r>
            <a:endParaRPr lang="ko-KR" sz="1380" dirty="0"/>
          </a:p>
        </p:txBody>
      </p:sp>
      <p:sp>
        <p:nvSpPr>
          <p:cNvPr id="25" name="1~2건"/>
          <p:cNvSpPr txBox="1"/>
          <p:nvPr/>
        </p:nvSpPr>
        <p:spPr>
          <a:xfrm>
            <a:off x="1874520" y="3154680"/>
            <a:ext cx="36576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1~2건</a:t>
            </a:r>
            <a:endParaRPr lang="ko-KR" sz="1320" dirty="0"/>
          </a:p>
        </p:txBody>
      </p:sp>
      <p:sp>
        <p:nvSpPr>
          <p:cNvPr id="26" name="본선"/>
          <p:cNvSpPr txBox="1"/>
          <p:nvPr/>
        </p:nvSpPr>
        <p:spPr>
          <a:xfrm>
            <a:off x="594360" y="3535680"/>
            <a:ext cx="9906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</a:t>
            </a:r>
            <a:endParaRPr lang="ko-KR" sz="1380" dirty="0"/>
          </a:p>
        </p:txBody>
      </p:sp>
      <p:sp>
        <p:nvSpPr>
          <p:cNvPr id="27" name="11월 2주"/>
          <p:cNvSpPr txBox="1"/>
          <p:nvPr/>
        </p:nvSpPr>
        <p:spPr>
          <a:xfrm>
            <a:off x="594360" y="3787140"/>
            <a:ext cx="103632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</a:t>
            </a:r>
            <a:endParaRPr lang="ko-KR" sz="1140" dirty="0"/>
          </a:p>
        </p:txBody>
      </p:sp>
      <p:sp>
        <p:nvSpPr>
          <p:cNvPr id="28" name="우수 과제 5~7건 발표"/>
          <p:cNvSpPr txBox="1"/>
          <p:nvPr/>
        </p:nvSpPr>
        <p:spPr>
          <a:xfrm>
            <a:off x="1874520" y="3535680"/>
            <a:ext cx="365760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과제 5~7건 발표</a:t>
            </a:r>
            <a:endParaRPr lang="ko-KR" sz="1440" dirty="0"/>
          </a:p>
        </p:txBody>
      </p:sp>
      <p:sp>
        <p:nvSpPr>
          <p:cNvPr id="29" name="과제별 발표 7분 + 질의응답 2분"/>
          <p:cNvSpPr txBox="1"/>
          <p:nvPr/>
        </p:nvSpPr>
        <p:spPr>
          <a:xfrm>
            <a:off x="1874520" y="3863340"/>
            <a:ext cx="36576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발표 7분 + 질의응답 2분</a:t>
            </a:r>
            <a:endParaRPr lang="ko-KR" sz="1320" dirty="0"/>
          </a:p>
        </p:txBody>
      </p:sp>
      <p:sp>
        <p:nvSpPr>
          <p:cNvPr id="30" name="심사위원"/>
          <p:cNvSpPr txBox="1"/>
          <p:nvPr/>
        </p:nvSpPr>
        <p:spPr>
          <a:xfrm>
            <a:off x="594360" y="4381500"/>
            <a:ext cx="108204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심사위원</a:t>
            </a:r>
            <a:endParaRPr lang="ko-KR" sz="1380" dirty="0"/>
          </a:p>
        </p:txBody>
      </p:sp>
      <p:sp>
        <p:nvSpPr>
          <p:cNvPr id="31" name="품질팀장 · 그룹장/PL"/>
          <p:cNvSpPr txBox="1"/>
          <p:nvPr/>
        </p:nvSpPr>
        <p:spPr>
          <a:xfrm>
            <a:off x="1874520" y="4381500"/>
            <a:ext cx="36576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380" dirty="0"/>
          </a:p>
        </p:txBody>
      </p:sp>
      <p:sp>
        <p:nvSpPr>
          <p:cNvPr id="32" name="line_30"/>
          <p:cNvSpPr/>
          <p:nvPr/>
        </p:nvSpPr>
        <p:spPr>
          <a:xfrm>
            <a:off x="6103620" y="2796540"/>
            <a:ext cx="5661660" cy="0"/>
          </a:xfrm>
          <a:prstGeom prst="line">
            <a:avLst/>
          </a:prstGeom>
          <a:noFill/>
          <a:ln w="15240">
            <a:solidFill>
              <a:srgbClr val="10284D"/>
            </a:solidFill>
            <a:prstDash val="solid"/>
            <a:headEnd type="none"/>
            <a:tailEnd type="none"/>
          </a:ln>
        </p:spPr>
      </p:sp>
      <p:sp>
        <p:nvSpPr>
          <p:cNvPr id="33" name="5분"/>
          <p:cNvSpPr txBox="1"/>
          <p:nvPr/>
        </p:nvSpPr>
        <p:spPr>
          <a:xfrm>
            <a:off x="6217920" y="290322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ko-KR" sz="1380" dirty="0"/>
          </a:p>
        </p:txBody>
      </p:sp>
      <p:sp>
        <p:nvSpPr>
          <p:cNvPr id="34" name="개회사 · 도입 영상"/>
          <p:cNvSpPr txBox="1"/>
          <p:nvPr/>
        </p:nvSpPr>
        <p:spPr>
          <a:xfrm>
            <a:off x="7094220" y="289560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개회사 · 도입 영상</a:t>
            </a:r>
            <a:endParaRPr lang="ko-KR" sz="1380" dirty="0"/>
          </a:p>
        </p:txBody>
      </p:sp>
      <p:sp>
        <p:nvSpPr>
          <p:cNvPr id="35" name="사회자"/>
          <p:cNvSpPr txBox="1"/>
          <p:nvPr/>
        </p:nvSpPr>
        <p:spPr>
          <a:xfrm>
            <a:off x="10355580" y="2918460"/>
            <a:ext cx="1295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</a:t>
            </a:r>
            <a:endParaRPr lang="ko-KR" sz="1200" dirty="0"/>
          </a:p>
        </p:txBody>
      </p:sp>
      <p:sp>
        <p:nvSpPr>
          <p:cNvPr id="36" name="line_34"/>
          <p:cNvSpPr/>
          <p:nvPr/>
        </p:nvSpPr>
        <p:spPr>
          <a:xfrm>
            <a:off x="6103620" y="325374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37" name="20분"/>
          <p:cNvSpPr txBox="1"/>
          <p:nvPr/>
        </p:nvSpPr>
        <p:spPr>
          <a:xfrm>
            <a:off x="6217920" y="335280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ko-KR" sz="1380" dirty="0"/>
          </a:p>
        </p:txBody>
      </p:sp>
      <p:sp>
        <p:nvSpPr>
          <p:cNvPr id="38" name="기조연설"/>
          <p:cNvSpPr txBox="1"/>
          <p:nvPr/>
        </p:nvSpPr>
        <p:spPr>
          <a:xfrm>
            <a:off x="7094220" y="334518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기조연설</a:t>
            </a:r>
            <a:endParaRPr lang="ko-KR" sz="1380" dirty="0"/>
          </a:p>
        </p:txBody>
      </p:sp>
      <p:sp>
        <p:nvSpPr>
          <p:cNvPr id="39" name="품질팀장"/>
          <p:cNvSpPr txBox="1"/>
          <p:nvPr/>
        </p:nvSpPr>
        <p:spPr>
          <a:xfrm>
            <a:off x="10355580" y="3368040"/>
            <a:ext cx="1295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200" dirty="0"/>
          </a:p>
        </p:txBody>
      </p:sp>
      <p:sp>
        <p:nvSpPr>
          <p:cNvPr id="40" name="line_38"/>
          <p:cNvSpPr/>
          <p:nvPr/>
        </p:nvSpPr>
        <p:spPr>
          <a:xfrm>
            <a:off x="6103620" y="370332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41" name="rect_39"/>
          <p:cNvSpPr/>
          <p:nvPr/>
        </p:nvSpPr>
        <p:spPr>
          <a:xfrm>
            <a:off x="6103620" y="3703320"/>
            <a:ext cx="5661660" cy="640080"/>
          </a:xfrm>
          <a:prstGeom prst="rect">
            <a:avLst/>
          </a:prstGeom>
          <a:solidFill>
            <a:srgbClr val="FBF7F0"/>
          </a:solidFill>
          <a:ln w="12700">
            <a:solidFill>
              <a:srgbClr val="FBF7F0">
                <a:alpha val="0"/>
              </a:srgbClr>
            </a:solidFill>
            <a:prstDash val="solid"/>
          </a:ln>
        </p:spPr>
      </p:sp>
      <p:sp>
        <p:nvSpPr>
          <p:cNvPr id="42" name="7+2분"/>
          <p:cNvSpPr txBox="1"/>
          <p:nvPr/>
        </p:nvSpPr>
        <p:spPr>
          <a:xfrm>
            <a:off x="6217920" y="380238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7+2분</a:t>
            </a:r>
            <a:endParaRPr lang="ko-KR" sz="1380" dirty="0"/>
          </a:p>
        </p:txBody>
      </p:sp>
      <p:sp>
        <p:nvSpPr>
          <p:cNvPr id="43" name="본선 발표"/>
          <p:cNvSpPr txBox="1"/>
          <p:nvPr/>
        </p:nvSpPr>
        <p:spPr>
          <a:xfrm>
            <a:off x="7094220" y="379476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발표</a:t>
            </a:r>
            <a:endParaRPr lang="ko-KR" sz="1380" dirty="0"/>
          </a:p>
        </p:txBody>
      </p:sp>
      <p:sp>
        <p:nvSpPr>
          <p:cNvPr id="44" name="발표 7분 + Q&amp;amp;A 2분 / 과제별"/>
          <p:cNvSpPr txBox="1"/>
          <p:nvPr/>
        </p:nvSpPr>
        <p:spPr>
          <a:xfrm>
            <a:off x="7094220" y="4053840"/>
            <a:ext cx="31470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7분 + Q&amp;A 2분 / 과제별</a:t>
            </a:r>
            <a:endParaRPr lang="ko-KR" sz="1140" dirty="0"/>
          </a:p>
        </p:txBody>
      </p:sp>
      <p:sp>
        <p:nvSpPr>
          <p:cNvPr id="45" name="과제 발표자"/>
          <p:cNvSpPr txBox="1"/>
          <p:nvPr/>
        </p:nvSpPr>
        <p:spPr>
          <a:xfrm>
            <a:off x="10355580" y="3817620"/>
            <a:ext cx="1295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발표자</a:t>
            </a:r>
            <a:endParaRPr lang="ko-KR" sz="1200" dirty="0"/>
          </a:p>
        </p:txBody>
      </p:sp>
      <p:sp>
        <p:nvSpPr>
          <p:cNvPr id="46" name="line_44"/>
          <p:cNvSpPr/>
          <p:nvPr/>
        </p:nvSpPr>
        <p:spPr>
          <a:xfrm>
            <a:off x="6103620" y="434340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47" name="10분"/>
          <p:cNvSpPr txBox="1"/>
          <p:nvPr/>
        </p:nvSpPr>
        <p:spPr>
          <a:xfrm>
            <a:off x="6217920" y="444246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ko-KR" sz="1380" dirty="0"/>
          </a:p>
        </p:txBody>
      </p:sp>
      <p:sp>
        <p:nvSpPr>
          <p:cNvPr id="48" name="심사 · 시상"/>
          <p:cNvSpPr txBox="1"/>
          <p:nvPr/>
        </p:nvSpPr>
        <p:spPr>
          <a:xfrm>
            <a:off x="7094220" y="443484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 · 시상</a:t>
            </a:r>
            <a:endParaRPr lang="ko-KR" sz="1380" dirty="0"/>
          </a:p>
        </p:txBody>
      </p:sp>
      <p:sp>
        <p:nvSpPr>
          <p:cNvPr id="49" name="품질팀장 그룹장/PL"/>
          <p:cNvSpPr txBox="1"/>
          <p:nvPr/>
        </p:nvSpPr>
        <p:spPr>
          <a:xfrm>
            <a:off x="10355580" y="4389120"/>
            <a:ext cx="12954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080" dirty="0"/>
          </a:p>
        </p:txBody>
      </p:sp>
      <p:sp>
        <p:nvSpPr>
          <p:cNvPr id="50" name="품질팀장 그룹장/PL_1"/>
          <p:cNvSpPr txBox="1"/>
          <p:nvPr/>
        </p:nvSpPr>
        <p:spPr>
          <a:xfrm>
            <a:off x="10355580" y="4560570"/>
            <a:ext cx="12954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그룹장/PL</a:t>
            </a:r>
            <a:endParaRPr lang="ko-KR" sz="1080" dirty="0"/>
          </a:p>
        </p:txBody>
      </p:sp>
      <p:sp>
        <p:nvSpPr>
          <p:cNvPr id="51" name="line_48"/>
          <p:cNvSpPr/>
          <p:nvPr/>
        </p:nvSpPr>
        <p:spPr>
          <a:xfrm>
            <a:off x="6103620" y="483870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52" name="03"/>
          <p:cNvSpPr txBox="1"/>
          <p:nvPr/>
        </p:nvSpPr>
        <p:spPr>
          <a:xfrm>
            <a:off x="426720" y="5059680"/>
            <a:ext cx="3657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53" name="시상 방향"/>
          <p:cNvSpPr txBox="1"/>
          <p:nvPr/>
        </p:nvSpPr>
        <p:spPr>
          <a:xfrm>
            <a:off x="792480" y="5029200"/>
            <a:ext cx="4572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시상 방향</a:t>
            </a:r>
            <a:endParaRPr lang="ko-KR" sz="1680" dirty="0"/>
          </a:p>
        </p:txBody>
      </p:sp>
      <p:sp>
        <p:nvSpPr>
          <p:cNvPr id="54" name="rect_51"/>
          <p:cNvSpPr/>
          <p:nvPr/>
        </p:nvSpPr>
        <p:spPr>
          <a:xfrm>
            <a:off x="426720" y="5463540"/>
            <a:ext cx="3627120" cy="868680"/>
          </a:xfrm>
          <a:prstGeom prst="roundRect">
            <a:avLst>
              <a:gd name="adj" fmla="val 5263"/>
            </a:avLst>
          </a:prstGeom>
          <a:solidFill>
            <a:srgbClr val="FBF7F0"/>
          </a:solidFill>
          <a:ln w="7620">
            <a:solidFill>
              <a:srgbClr val="E8DBCA"/>
            </a:solidFill>
            <a:prstDash val="solid"/>
          </a:ln>
        </p:spPr>
      </p:sp>
      <p:sp>
        <p:nvSpPr>
          <p:cNvPr id="55" name="line_52"/>
          <p:cNvSpPr/>
          <p:nvPr/>
        </p:nvSpPr>
        <p:spPr>
          <a:xfrm>
            <a:off x="701040" y="5734050"/>
            <a:ext cx="167640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6" name="line_53"/>
          <p:cNvSpPr/>
          <p:nvPr/>
        </p:nvSpPr>
        <p:spPr>
          <a:xfrm>
            <a:off x="701040" y="5734050"/>
            <a:ext cx="16764" cy="11734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7" name="line_54"/>
          <p:cNvSpPr/>
          <p:nvPr/>
        </p:nvSpPr>
        <p:spPr>
          <a:xfrm flipH="1">
            <a:off x="851916" y="5734050"/>
            <a:ext cx="16764" cy="11734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8" name="line_55"/>
          <p:cNvSpPr/>
          <p:nvPr/>
        </p:nvSpPr>
        <p:spPr>
          <a:xfrm>
            <a:off x="717804" y="5851398"/>
            <a:ext cx="67056" cy="5029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9" name="line_56"/>
          <p:cNvSpPr/>
          <p:nvPr/>
        </p:nvSpPr>
        <p:spPr>
          <a:xfrm flipH="1">
            <a:off x="784860" y="5851398"/>
            <a:ext cx="67056" cy="5029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0" name="line_57"/>
          <p:cNvSpPr/>
          <p:nvPr/>
        </p:nvSpPr>
        <p:spPr>
          <a:xfrm>
            <a:off x="784860" y="5901690"/>
            <a:ext cx="0" cy="7543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1" name="line_58"/>
          <p:cNvSpPr/>
          <p:nvPr/>
        </p:nvSpPr>
        <p:spPr>
          <a:xfrm>
            <a:off x="717804" y="5985510"/>
            <a:ext cx="13411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2" name="line_59"/>
          <p:cNvSpPr/>
          <p:nvPr/>
        </p:nvSpPr>
        <p:spPr>
          <a:xfrm flipH="1">
            <a:off x="650748" y="5767578"/>
            <a:ext cx="5029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3" name="line_60"/>
          <p:cNvSpPr/>
          <p:nvPr/>
        </p:nvSpPr>
        <p:spPr>
          <a:xfrm>
            <a:off x="650748" y="5767578"/>
            <a:ext cx="8382" cy="7543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4" name="line_61"/>
          <p:cNvSpPr/>
          <p:nvPr/>
        </p:nvSpPr>
        <p:spPr>
          <a:xfrm>
            <a:off x="659130" y="5843016"/>
            <a:ext cx="67056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5" name="line_62"/>
          <p:cNvSpPr/>
          <p:nvPr/>
        </p:nvSpPr>
        <p:spPr>
          <a:xfrm>
            <a:off x="868680" y="5767578"/>
            <a:ext cx="5029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6" name="line_63"/>
          <p:cNvSpPr/>
          <p:nvPr/>
        </p:nvSpPr>
        <p:spPr>
          <a:xfrm flipH="1">
            <a:off x="910590" y="5767578"/>
            <a:ext cx="8382" cy="7543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7" name="line_64"/>
          <p:cNvSpPr/>
          <p:nvPr/>
        </p:nvSpPr>
        <p:spPr>
          <a:xfrm flipH="1">
            <a:off x="843534" y="5843016"/>
            <a:ext cx="67056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8" name="과제 우수상"/>
          <p:cNvSpPr txBox="1"/>
          <p:nvPr/>
        </p:nvSpPr>
        <p:spPr>
          <a:xfrm>
            <a:off x="1082040" y="5554980"/>
            <a:ext cx="277368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우수상</a:t>
            </a:r>
            <a:endParaRPr lang="ko-KR" sz="1440" dirty="0"/>
          </a:p>
        </p:txBody>
      </p:sp>
      <p:sp>
        <p:nvSpPr>
          <p:cNvPr id="69" name="AI 과제 완성도 및 과제 성과 우수"/>
          <p:cNvSpPr txBox="1"/>
          <p:nvPr/>
        </p:nvSpPr>
        <p:spPr>
          <a:xfrm>
            <a:off x="1082040" y="585216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과제 완성도 및</a:t>
            </a:r>
            <a:endParaRPr lang="ko-KR" sz="1200" dirty="0"/>
          </a:p>
        </p:txBody>
      </p:sp>
      <p:sp>
        <p:nvSpPr>
          <p:cNvPr id="70" name="AI 과제 완성도 및 과제 성과 우수_1"/>
          <p:cNvSpPr txBox="1"/>
          <p:nvPr/>
        </p:nvSpPr>
        <p:spPr>
          <a:xfrm>
            <a:off x="1082040" y="605028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성과 우수</a:t>
            </a:r>
            <a:endParaRPr lang="ko-KR" sz="1200" dirty="0"/>
          </a:p>
        </p:txBody>
      </p:sp>
      <p:sp>
        <p:nvSpPr>
          <p:cNvPr id="71" name="rect_67"/>
          <p:cNvSpPr/>
          <p:nvPr/>
        </p:nvSpPr>
        <p:spPr>
          <a:xfrm>
            <a:off x="4282440" y="5463540"/>
            <a:ext cx="3627120" cy="868680"/>
          </a:xfrm>
          <a:prstGeom prst="roundRect">
            <a:avLst>
              <a:gd name="adj" fmla="val 5263"/>
            </a:avLst>
          </a:prstGeom>
          <a:solidFill>
            <a:srgbClr val="FBF7F0"/>
          </a:solidFill>
          <a:ln w="7620">
            <a:solidFill>
              <a:srgbClr val="E8DBCA"/>
            </a:solidFill>
            <a:prstDash val="solid"/>
          </a:ln>
        </p:spPr>
      </p:sp>
      <p:sp>
        <p:nvSpPr>
          <p:cNvPr id="72" name="rect_68"/>
          <p:cNvSpPr/>
          <p:nvPr/>
        </p:nvSpPr>
        <p:spPr>
          <a:xfrm>
            <a:off x="4514850" y="5901690"/>
            <a:ext cx="50292" cy="92202"/>
          </a:xfrm>
          <a:prstGeom prst="rect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73" name="rect_69"/>
          <p:cNvSpPr/>
          <p:nvPr/>
        </p:nvSpPr>
        <p:spPr>
          <a:xfrm>
            <a:off x="4615434" y="5843016"/>
            <a:ext cx="50292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74" name="rect_70"/>
          <p:cNvSpPr/>
          <p:nvPr/>
        </p:nvSpPr>
        <p:spPr>
          <a:xfrm>
            <a:off x="4716018" y="5767578"/>
            <a:ext cx="50292" cy="226314"/>
          </a:xfrm>
          <a:prstGeom prst="rect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75" name="line_71"/>
          <p:cNvSpPr/>
          <p:nvPr/>
        </p:nvSpPr>
        <p:spPr>
          <a:xfrm flipV="1">
            <a:off x="4506468" y="5717286"/>
            <a:ext cx="217932" cy="11734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76" name="line_72"/>
          <p:cNvSpPr/>
          <p:nvPr/>
        </p:nvSpPr>
        <p:spPr>
          <a:xfrm>
            <a:off x="4674108" y="5717286"/>
            <a:ext cx="58674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77" name="line_73"/>
          <p:cNvSpPr/>
          <p:nvPr/>
        </p:nvSpPr>
        <p:spPr>
          <a:xfrm>
            <a:off x="4732782" y="5717286"/>
            <a:ext cx="0" cy="58674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78" name="개인 발전상"/>
          <p:cNvSpPr txBox="1"/>
          <p:nvPr/>
        </p:nvSpPr>
        <p:spPr>
          <a:xfrm>
            <a:off x="4937760" y="5554980"/>
            <a:ext cx="277368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발전상</a:t>
            </a:r>
            <a:endParaRPr lang="ko-KR" sz="1440" dirty="0"/>
          </a:p>
        </p:txBody>
      </p:sp>
      <p:sp>
        <p:nvSpPr>
          <p:cNvPr id="79" name="AI 활용 역량 향상 우수"/>
          <p:cNvSpPr txBox="1"/>
          <p:nvPr/>
        </p:nvSpPr>
        <p:spPr>
          <a:xfrm>
            <a:off x="4937760" y="585216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</a:t>
            </a:r>
            <a:endParaRPr lang="ko-KR" sz="1200" dirty="0"/>
          </a:p>
        </p:txBody>
      </p:sp>
      <p:sp>
        <p:nvSpPr>
          <p:cNvPr id="80" name="AI 활용 역량 향상 우수_1"/>
          <p:cNvSpPr txBox="1"/>
          <p:nvPr/>
        </p:nvSpPr>
        <p:spPr>
          <a:xfrm>
            <a:off x="4937760" y="605028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 우수</a:t>
            </a:r>
            <a:endParaRPr lang="ko-KR" sz="1200" dirty="0"/>
          </a:p>
        </p:txBody>
      </p:sp>
      <p:sp>
        <p:nvSpPr>
          <p:cNvPr id="81" name="rect_76"/>
          <p:cNvSpPr/>
          <p:nvPr/>
        </p:nvSpPr>
        <p:spPr>
          <a:xfrm>
            <a:off x="8138160" y="5463540"/>
            <a:ext cx="3627120" cy="868680"/>
          </a:xfrm>
          <a:prstGeom prst="roundRect">
            <a:avLst>
              <a:gd name="adj" fmla="val 5263"/>
            </a:avLst>
          </a:prstGeom>
          <a:solidFill>
            <a:srgbClr val="FBF7F0"/>
          </a:solidFill>
          <a:ln w="7620">
            <a:solidFill>
              <a:srgbClr val="E8DBCA"/>
            </a:solidFill>
            <a:prstDash val="solid"/>
          </a:ln>
        </p:spPr>
      </p:sp>
      <p:sp>
        <p:nvSpPr>
          <p:cNvPr id="82" name="ellipse_77"/>
          <p:cNvSpPr/>
          <p:nvPr/>
        </p:nvSpPr>
        <p:spPr>
          <a:xfrm>
            <a:off x="8454390" y="5734050"/>
            <a:ext cx="83820" cy="83820"/>
          </a:xfrm>
          <a:prstGeom prst="ellipse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83" name="ellipse_78"/>
          <p:cNvSpPr/>
          <p:nvPr/>
        </p:nvSpPr>
        <p:spPr>
          <a:xfrm>
            <a:off x="8345424" y="5784342"/>
            <a:ext cx="67056" cy="67056"/>
          </a:xfrm>
          <a:prstGeom prst="ellipse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84" name="ellipse_79"/>
          <p:cNvSpPr/>
          <p:nvPr/>
        </p:nvSpPr>
        <p:spPr>
          <a:xfrm>
            <a:off x="8580120" y="5784342"/>
            <a:ext cx="67056" cy="67056"/>
          </a:xfrm>
          <a:prstGeom prst="ellipse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85" name="line_80"/>
          <p:cNvSpPr/>
          <p:nvPr/>
        </p:nvSpPr>
        <p:spPr>
          <a:xfrm>
            <a:off x="8429244" y="5893308"/>
            <a:ext cx="0" cy="9220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6" name="line_81"/>
          <p:cNvSpPr/>
          <p:nvPr/>
        </p:nvSpPr>
        <p:spPr>
          <a:xfrm flipV="1">
            <a:off x="8429244" y="5859780"/>
            <a:ext cx="41910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7" name="line_82"/>
          <p:cNvSpPr/>
          <p:nvPr/>
        </p:nvSpPr>
        <p:spPr>
          <a:xfrm>
            <a:off x="8471154" y="5859780"/>
            <a:ext cx="5029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8" name="line_83"/>
          <p:cNvSpPr/>
          <p:nvPr/>
        </p:nvSpPr>
        <p:spPr>
          <a:xfrm>
            <a:off x="8521446" y="5859780"/>
            <a:ext cx="41910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9" name="line_84"/>
          <p:cNvSpPr/>
          <p:nvPr/>
        </p:nvSpPr>
        <p:spPr>
          <a:xfrm>
            <a:off x="8563356" y="5893308"/>
            <a:ext cx="0" cy="9220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0" name="line_85"/>
          <p:cNvSpPr/>
          <p:nvPr/>
        </p:nvSpPr>
        <p:spPr>
          <a:xfrm flipH="1">
            <a:off x="8328660" y="5893308"/>
            <a:ext cx="25146" cy="2514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1" name="line_86"/>
          <p:cNvSpPr/>
          <p:nvPr/>
        </p:nvSpPr>
        <p:spPr>
          <a:xfrm>
            <a:off x="8328660" y="5918454"/>
            <a:ext cx="0" cy="6705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2" name="line_87"/>
          <p:cNvSpPr/>
          <p:nvPr/>
        </p:nvSpPr>
        <p:spPr>
          <a:xfrm>
            <a:off x="8638794" y="5893308"/>
            <a:ext cx="25146" cy="2514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3" name="line_88"/>
          <p:cNvSpPr/>
          <p:nvPr/>
        </p:nvSpPr>
        <p:spPr>
          <a:xfrm>
            <a:off x="8663940" y="5918454"/>
            <a:ext cx="0" cy="6705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4" name="line_89"/>
          <p:cNvSpPr/>
          <p:nvPr/>
        </p:nvSpPr>
        <p:spPr>
          <a:xfrm>
            <a:off x="8437626" y="5985510"/>
            <a:ext cx="117348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5" name="조직 실천상"/>
          <p:cNvSpPr txBox="1"/>
          <p:nvPr/>
        </p:nvSpPr>
        <p:spPr>
          <a:xfrm>
            <a:off x="8793480" y="5554980"/>
            <a:ext cx="277368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실천상</a:t>
            </a:r>
            <a:endParaRPr lang="ko-KR" sz="1440" dirty="0"/>
          </a:p>
        </p:txBody>
      </p:sp>
      <p:sp>
        <p:nvSpPr>
          <p:cNvPr id="96" name="조직별 AI 활용 참여 및 확산 우수"/>
          <p:cNvSpPr txBox="1"/>
          <p:nvPr/>
        </p:nvSpPr>
        <p:spPr>
          <a:xfrm>
            <a:off x="8793480" y="585216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AI 활용</a:t>
            </a:r>
            <a:endParaRPr lang="ko-KR" sz="1200" dirty="0"/>
          </a:p>
        </p:txBody>
      </p:sp>
      <p:sp>
        <p:nvSpPr>
          <p:cNvPr id="97" name="조직별 AI 활용 참여 및 확산 우수_1"/>
          <p:cNvSpPr txBox="1"/>
          <p:nvPr/>
        </p:nvSpPr>
        <p:spPr>
          <a:xfrm>
            <a:off x="8793480" y="605028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및 확산 우수</a:t>
            </a:r>
            <a:endParaRPr lang="ko-KR" sz="1200" dirty="0"/>
          </a:p>
        </p:txBody>
      </p:sp>
      <p:sp>
        <p:nvSpPr>
          <p:cNvPr id="98" name="line_92"/>
          <p:cNvSpPr/>
          <p:nvPr/>
        </p:nvSpPr>
        <p:spPr>
          <a:xfrm>
            <a:off x="426720" y="6530340"/>
            <a:ext cx="113385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99" name="품질팀 AI 실천 문화 확산"/>
          <p:cNvSpPr txBox="1"/>
          <p:nvPr/>
        </p:nvSpPr>
        <p:spPr>
          <a:xfrm>
            <a:off x="426720" y="6606540"/>
            <a:ext cx="6248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 AI 실천 문화 확산</a:t>
            </a:r>
            <a:endParaRPr lang="ko-KR" sz="900" dirty="0"/>
          </a:p>
        </p:txBody>
      </p:sp>
      <p:sp>
        <p:nvSpPr>
          <p:cNvPr id="100" name="2026  /  대회 운영안"/>
          <p:cNvSpPr txBox="1"/>
          <p:nvPr/>
        </p:nvSpPr>
        <p:spPr>
          <a:xfrm>
            <a:off x="9479280" y="6606540"/>
            <a:ext cx="22860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 /  대회 운영안</a:t>
            </a:r>
            <a:endParaRPr lang="ko-KR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"/>
          <p:cNvSpPr/>
          <p:nvPr/>
        </p:nvSpPr>
        <p:spPr>
          <a:xfrm>
            <a:off x="487680" y="320040"/>
            <a:ext cx="53340" cy="381000"/>
          </a:xfrm>
          <a:prstGeom prst="roundRect">
            <a:avLst>
              <a:gd name="adj" fmla="val 42857"/>
            </a:avLst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3" name="2026년 품질팀 AI 실행 결과 발표 대회 (안)"/>
          <p:cNvSpPr txBox="1"/>
          <p:nvPr/>
        </p:nvSpPr>
        <p:spPr>
          <a:xfrm>
            <a:off x="678180" y="274320"/>
            <a:ext cx="10972800" cy="50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2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품질팀 AI 실행 결과 발표 대회 (안)</a:t>
            </a:r>
            <a:endParaRPr lang="ko-KR" sz="2520" dirty="0"/>
          </a:p>
        </p:txBody>
      </p:sp>
      <p:sp>
        <p:nvSpPr>
          <p:cNvPr id="4" name="AI를 학습하는 단계에서, 활용하고 성과 내는 AI로"/>
          <p:cNvSpPr txBox="1"/>
          <p:nvPr/>
        </p:nvSpPr>
        <p:spPr>
          <a:xfrm>
            <a:off x="487680" y="815340"/>
            <a:ext cx="9601200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학습하는 단계에서, 활용하고 성과 내는 AI로</a:t>
            </a:r>
            <a:endParaRPr lang="ko-KR" sz="1620" dirty="0"/>
          </a:p>
        </p:txBody>
      </p:sp>
      <p:sp>
        <p:nvSpPr>
          <p:cNvPr id="5" name="2026.10.13."/>
          <p:cNvSpPr txBox="1"/>
          <p:nvPr/>
        </p:nvSpPr>
        <p:spPr>
          <a:xfrm>
            <a:off x="10134600" y="853440"/>
            <a:ext cx="156972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2026.10.13.</a:t>
            </a:r>
            <a:endParaRPr lang="ko-KR" sz="1140" dirty="0"/>
          </a:p>
        </p:txBody>
      </p:sp>
      <p:sp>
        <p:nvSpPr>
          <p:cNvPr id="6" name="AI 우수 과제 및 AI 활용 역량 향상 사례 공유를 통한 품질팀 AI 실천 문화"/>
          <p:cNvSpPr txBox="1"/>
          <p:nvPr/>
        </p:nvSpPr>
        <p:spPr>
          <a:xfrm>
            <a:off x="487680" y="1188720"/>
            <a:ext cx="1121664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우수 과제 및 AI 활용 역량 향상 사례 공유를 통한 품질팀 AI 실천 문화 확산</a:t>
            </a:r>
            <a:endParaRPr lang="ko-KR" sz="1380" dirty="0"/>
          </a:p>
        </p:txBody>
      </p:sp>
      <p:sp>
        <p:nvSpPr>
          <p:cNvPr id="7" name="line_5"/>
          <p:cNvSpPr/>
          <p:nvPr/>
        </p:nvSpPr>
        <p:spPr>
          <a:xfrm>
            <a:off x="487680" y="1577340"/>
            <a:ext cx="11216640" cy="0"/>
          </a:xfrm>
          <a:prstGeom prst="line">
            <a:avLst/>
          </a:prstGeom>
          <a:noFill/>
          <a:ln w="1143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8" name="rect_6"/>
          <p:cNvSpPr/>
          <p:nvPr/>
        </p:nvSpPr>
        <p:spPr>
          <a:xfrm>
            <a:off x="487680" y="1760220"/>
            <a:ext cx="11216640" cy="861060"/>
          </a:xfrm>
          <a:prstGeom prst="roundRect">
            <a:avLst>
              <a:gd name="adj" fmla="val 8850"/>
            </a:avLst>
          </a:prstGeom>
          <a:solidFill>
            <a:srgbClr val="F5F8FD"/>
          </a:solidFill>
          <a:ln w="12700">
            <a:solidFill>
              <a:srgbClr val="F5F8FD">
                <a:alpha val="0"/>
              </a:srgbClr>
            </a:solidFill>
            <a:prstDash val="solid"/>
          </a:ln>
        </p:spPr>
      </p:sp>
      <p:sp>
        <p:nvSpPr>
          <p:cNvPr id="9" name="rect_7"/>
          <p:cNvSpPr/>
          <p:nvPr/>
        </p:nvSpPr>
        <p:spPr>
          <a:xfrm>
            <a:off x="487680" y="1760220"/>
            <a:ext cx="11216640" cy="30480"/>
          </a:xfrm>
          <a:prstGeom prst="rect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10" name="예선  ·  10월까지"/>
          <p:cNvSpPr txBox="1"/>
          <p:nvPr/>
        </p:nvSpPr>
        <p:spPr>
          <a:xfrm>
            <a:off x="655320" y="1920240"/>
            <a:ext cx="33375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예선  ·  10월까지</a:t>
            </a:r>
            <a:endParaRPr lang="ko-KR" sz="1320" dirty="0"/>
          </a:p>
        </p:txBody>
      </p:sp>
      <p:sp>
        <p:nvSpPr>
          <p:cNvPr id="11" name="그룹·PJT별 우수 과제 1~2건 추천"/>
          <p:cNvSpPr txBox="1"/>
          <p:nvPr/>
        </p:nvSpPr>
        <p:spPr>
          <a:xfrm>
            <a:off x="655320" y="2225040"/>
            <a:ext cx="344424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그룹·PJT별 우수 과제 1~2건 추천</a:t>
            </a:r>
            <a:endParaRPr lang="ko-KR" sz="1380" dirty="0"/>
          </a:p>
        </p:txBody>
      </p:sp>
      <p:sp>
        <p:nvSpPr>
          <p:cNvPr id="12" name="line_10"/>
          <p:cNvSpPr/>
          <p:nvPr/>
        </p:nvSpPr>
        <p:spPr>
          <a:xfrm>
            <a:off x="4175760" y="1958340"/>
            <a:ext cx="0" cy="480060"/>
          </a:xfrm>
          <a:prstGeom prst="line">
            <a:avLst/>
          </a:prstGeom>
          <a:noFill/>
          <a:ln w="1143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13" name="본선  ·  11월 2주"/>
          <p:cNvSpPr txBox="1"/>
          <p:nvPr/>
        </p:nvSpPr>
        <p:spPr>
          <a:xfrm>
            <a:off x="4381500" y="1920240"/>
            <a:ext cx="31851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 ·  11월 2주</a:t>
            </a:r>
            <a:endParaRPr lang="ko-KR" sz="1320" dirty="0"/>
          </a:p>
        </p:txBody>
      </p:sp>
      <p:sp>
        <p:nvSpPr>
          <p:cNvPr id="14" name="우수 과제 5~7건 발표"/>
          <p:cNvSpPr txBox="1"/>
          <p:nvPr/>
        </p:nvSpPr>
        <p:spPr>
          <a:xfrm>
            <a:off x="4381500" y="2225040"/>
            <a:ext cx="31851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과제 5~7건 발표</a:t>
            </a:r>
            <a:endParaRPr lang="ko-KR" sz="1380" dirty="0"/>
          </a:p>
        </p:txBody>
      </p:sp>
      <p:sp>
        <p:nvSpPr>
          <p:cNvPr id="15" name="line_13"/>
          <p:cNvSpPr/>
          <p:nvPr/>
        </p:nvSpPr>
        <p:spPr>
          <a:xfrm>
            <a:off x="7901940" y="1958340"/>
            <a:ext cx="0" cy="480060"/>
          </a:xfrm>
          <a:prstGeom prst="line">
            <a:avLst/>
          </a:prstGeom>
          <a:noFill/>
          <a:ln w="1143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16" name="심사위원"/>
          <p:cNvSpPr txBox="1"/>
          <p:nvPr/>
        </p:nvSpPr>
        <p:spPr>
          <a:xfrm>
            <a:off x="8122920" y="1920240"/>
            <a:ext cx="33756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심사위원</a:t>
            </a:r>
            <a:endParaRPr lang="ko-KR" sz="1320" dirty="0"/>
          </a:p>
        </p:txBody>
      </p:sp>
      <p:sp>
        <p:nvSpPr>
          <p:cNvPr id="17" name="품질팀장 · 그룹장/PL"/>
          <p:cNvSpPr txBox="1"/>
          <p:nvPr/>
        </p:nvSpPr>
        <p:spPr>
          <a:xfrm>
            <a:off x="8122920" y="2225040"/>
            <a:ext cx="33756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380" dirty="0"/>
          </a:p>
        </p:txBody>
      </p:sp>
      <p:sp>
        <p:nvSpPr>
          <p:cNvPr id="18" name="발표 대회 프로그램"/>
          <p:cNvSpPr txBox="1"/>
          <p:nvPr/>
        </p:nvSpPr>
        <p:spPr>
          <a:xfrm>
            <a:off x="487680" y="2903220"/>
            <a:ext cx="5334000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대회 프로그램</a:t>
            </a:r>
            <a:endParaRPr lang="ko-KR" sz="1620" dirty="0"/>
          </a:p>
        </p:txBody>
      </p:sp>
      <p:sp>
        <p:nvSpPr>
          <p:cNvPr id="19" name="rect_17"/>
          <p:cNvSpPr/>
          <p:nvPr/>
        </p:nvSpPr>
        <p:spPr>
          <a:xfrm>
            <a:off x="10287000" y="2918460"/>
            <a:ext cx="1417320" cy="29718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0" name="약 90분 (안)"/>
          <p:cNvSpPr txBox="1"/>
          <p:nvPr/>
        </p:nvSpPr>
        <p:spPr>
          <a:xfrm>
            <a:off x="10287000" y="2959418"/>
            <a:ext cx="14173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90분 (안)</a:t>
            </a:r>
            <a:endParaRPr lang="ko-KR" sz="1260" dirty="0"/>
          </a:p>
        </p:txBody>
      </p:sp>
      <p:sp>
        <p:nvSpPr>
          <p:cNvPr id="21" name="line_19"/>
          <p:cNvSpPr/>
          <p:nvPr/>
        </p:nvSpPr>
        <p:spPr>
          <a:xfrm>
            <a:off x="1889760" y="3573780"/>
            <a:ext cx="8412480" cy="0"/>
          </a:xfrm>
          <a:prstGeom prst="line">
            <a:avLst/>
          </a:prstGeom>
          <a:noFill/>
          <a:ln w="38100">
            <a:solidFill>
              <a:srgbClr val="D9E4F3"/>
            </a:solidFill>
            <a:prstDash val="solid"/>
            <a:headEnd type="none"/>
            <a:tailEnd type="none"/>
          </a:ln>
        </p:spPr>
      </p:sp>
      <p:sp>
        <p:nvSpPr>
          <p:cNvPr id="22" name="ellipse_20"/>
          <p:cNvSpPr/>
          <p:nvPr/>
        </p:nvSpPr>
        <p:spPr>
          <a:xfrm>
            <a:off x="169926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23" name="01"/>
          <p:cNvSpPr txBox="1"/>
          <p:nvPr/>
        </p:nvSpPr>
        <p:spPr>
          <a:xfrm>
            <a:off x="166878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20" dirty="0"/>
          </a:p>
        </p:txBody>
      </p:sp>
      <p:sp>
        <p:nvSpPr>
          <p:cNvPr id="24" name="개회사 · 도입 영상"/>
          <p:cNvSpPr txBox="1"/>
          <p:nvPr/>
        </p:nvSpPr>
        <p:spPr>
          <a:xfrm>
            <a:off x="65532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개회사 · 도입 영상</a:t>
            </a:r>
            <a:endParaRPr lang="ko-KR" sz="1560" dirty="0"/>
          </a:p>
        </p:txBody>
      </p:sp>
      <p:sp>
        <p:nvSpPr>
          <p:cNvPr id="25" name="5분"/>
          <p:cNvSpPr txBox="1"/>
          <p:nvPr/>
        </p:nvSpPr>
        <p:spPr>
          <a:xfrm>
            <a:off x="563880" y="4229100"/>
            <a:ext cx="2651760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98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ko-KR" sz="1980" dirty="0"/>
          </a:p>
        </p:txBody>
      </p:sp>
      <p:sp>
        <p:nvSpPr>
          <p:cNvPr id="26" name="사회자"/>
          <p:cNvSpPr txBox="1"/>
          <p:nvPr/>
        </p:nvSpPr>
        <p:spPr>
          <a:xfrm>
            <a:off x="56388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</a:t>
            </a:r>
            <a:endParaRPr lang="ko-KR" sz="1260" dirty="0"/>
          </a:p>
        </p:txBody>
      </p:sp>
      <p:sp>
        <p:nvSpPr>
          <p:cNvPr id="27" name="ellipse_25"/>
          <p:cNvSpPr/>
          <p:nvPr/>
        </p:nvSpPr>
        <p:spPr>
          <a:xfrm>
            <a:off x="450342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28" name="02"/>
          <p:cNvSpPr txBox="1"/>
          <p:nvPr/>
        </p:nvSpPr>
        <p:spPr>
          <a:xfrm>
            <a:off x="447294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20" dirty="0"/>
          </a:p>
        </p:txBody>
      </p:sp>
      <p:sp>
        <p:nvSpPr>
          <p:cNvPr id="29" name="기조연설"/>
          <p:cNvSpPr txBox="1"/>
          <p:nvPr/>
        </p:nvSpPr>
        <p:spPr>
          <a:xfrm>
            <a:off x="345948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기조연설</a:t>
            </a:r>
            <a:endParaRPr lang="ko-KR" sz="1560" dirty="0"/>
          </a:p>
        </p:txBody>
      </p:sp>
      <p:sp>
        <p:nvSpPr>
          <p:cNvPr id="30" name="20분"/>
          <p:cNvSpPr txBox="1"/>
          <p:nvPr/>
        </p:nvSpPr>
        <p:spPr>
          <a:xfrm>
            <a:off x="3368040" y="4229100"/>
            <a:ext cx="2651760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98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ko-KR" sz="1980" dirty="0"/>
          </a:p>
        </p:txBody>
      </p:sp>
      <p:sp>
        <p:nvSpPr>
          <p:cNvPr id="31" name="품질팀장"/>
          <p:cNvSpPr txBox="1"/>
          <p:nvPr/>
        </p:nvSpPr>
        <p:spPr>
          <a:xfrm>
            <a:off x="336804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260" dirty="0"/>
          </a:p>
        </p:txBody>
      </p:sp>
      <p:sp>
        <p:nvSpPr>
          <p:cNvPr id="32" name="ellipse_30"/>
          <p:cNvSpPr/>
          <p:nvPr/>
        </p:nvSpPr>
        <p:spPr>
          <a:xfrm>
            <a:off x="730758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33" name="03"/>
          <p:cNvSpPr txBox="1"/>
          <p:nvPr/>
        </p:nvSpPr>
        <p:spPr>
          <a:xfrm>
            <a:off x="727710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20" dirty="0"/>
          </a:p>
        </p:txBody>
      </p:sp>
      <p:sp>
        <p:nvSpPr>
          <p:cNvPr id="34" name="본선 발표"/>
          <p:cNvSpPr txBox="1"/>
          <p:nvPr/>
        </p:nvSpPr>
        <p:spPr>
          <a:xfrm>
            <a:off x="626364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발표</a:t>
            </a:r>
            <a:endParaRPr lang="ko-KR" sz="1560" dirty="0"/>
          </a:p>
        </p:txBody>
      </p:sp>
      <p:sp>
        <p:nvSpPr>
          <p:cNvPr id="35" name="과제별 7분 + Q&amp;amp;A 2분"/>
          <p:cNvSpPr txBox="1"/>
          <p:nvPr/>
        </p:nvSpPr>
        <p:spPr>
          <a:xfrm>
            <a:off x="6172200" y="4229100"/>
            <a:ext cx="2651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7분 + Q&amp;A 2분</a:t>
            </a:r>
            <a:endParaRPr lang="ko-KR" sz="1500" dirty="0"/>
          </a:p>
        </p:txBody>
      </p:sp>
      <p:sp>
        <p:nvSpPr>
          <p:cNvPr id="36" name="발표자 · 우수 과제 5~7건"/>
          <p:cNvSpPr txBox="1"/>
          <p:nvPr/>
        </p:nvSpPr>
        <p:spPr>
          <a:xfrm>
            <a:off x="617220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 · 우수 과제 5~7건</a:t>
            </a:r>
            <a:endParaRPr lang="ko-KR" sz="1260" dirty="0"/>
          </a:p>
        </p:txBody>
      </p:sp>
      <p:sp>
        <p:nvSpPr>
          <p:cNvPr id="37" name="ellipse_35"/>
          <p:cNvSpPr/>
          <p:nvPr/>
        </p:nvSpPr>
        <p:spPr>
          <a:xfrm>
            <a:off x="10111740" y="3383280"/>
            <a:ext cx="381000" cy="381000"/>
          </a:xfrm>
          <a:prstGeom prst="ellipse">
            <a:avLst/>
          </a:prstGeom>
          <a:solidFill>
            <a:srgbClr val="1557C0"/>
          </a:solidFill>
          <a:ln w="12700">
            <a:solidFill>
              <a:srgbClr val="1557C0">
                <a:alpha val="0"/>
              </a:srgbClr>
            </a:solidFill>
            <a:prstDash val="solid"/>
          </a:ln>
        </p:spPr>
      </p:sp>
      <p:sp>
        <p:nvSpPr>
          <p:cNvPr id="38" name="04"/>
          <p:cNvSpPr txBox="1"/>
          <p:nvPr/>
        </p:nvSpPr>
        <p:spPr>
          <a:xfrm>
            <a:off x="10081260" y="3436620"/>
            <a:ext cx="4419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320" dirty="0"/>
          </a:p>
        </p:txBody>
      </p:sp>
      <p:sp>
        <p:nvSpPr>
          <p:cNvPr id="39" name="심사 · 시상"/>
          <p:cNvSpPr txBox="1"/>
          <p:nvPr/>
        </p:nvSpPr>
        <p:spPr>
          <a:xfrm>
            <a:off x="9067800" y="3886200"/>
            <a:ext cx="246888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 · 시상</a:t>
            </a:r>
            <a:endParaRPr lang="ko-KR" sz="1560" dirty="0"/>
          </a:p>
        </p:txBody>
      </p:sp>
      <p:sp>
        <p:nvSpPr>
          <p:cNvPr id="40" name="10분"/>
          <p:cNvSpPr txBox="1"/>
          <p:nvPr/>
        </p:nvSpPr>
        <p:spPr>
          <a:xfrm>
            <a:off x="8976360" y="4229100"/>
            <a:ext cx="2651760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98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ko-KR" sz="1980" dirty="0"/>
          </a:p>
        </p:txBody>
      </p:sp>
      <p:sp>
        <p:nvSpPr>
          <p:cNvPr id="41" name="품질팀장 · 그룹장/PL"/>
          <p:cNvSpPr txBox="1"/>
          <p:nvPr/>
        </p:nvSpPr>
        <p:spPr>
          <a:xfrm>
            <a:off x="8976360" y="4625340"/>
            <a:ext cx="265176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260" dirty="0"/>
          </a:p>
        </p:txBody>
      </p:sp>
      <p:sp>
        <p:nvSpPr>
          <p:cNvPr id="42" name="rect_40"/>
          <p:cNvSpPr/>
          <p:nvPr/>
        </p:nvSpPr>
        <p:spPr>
          <a:xfrm>
            <a:off x="487680" y="5173980"/>
            <a:ext cx="11216640" cy="121920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3" name="시상 부문"/>
          <p:cNvSpPr txBox="1"/>
          <p:nvPr/>
        </p:nvSpPr>
        <p:spPr>
          <a:xfrm>
            <a:off x="655320" y="5295900"/>
            <a:ext cx="102870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1557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시상 부문</a:t>
            </a:r>
            <a:endParaRPr lang="ko-KR" sz="1260" dirty="0"/>
          </a:p>
        </p:txBody>
      </p:sp>
      <p:sp>
        <p:nvSpPr>
          <p:cNvPr id="44" name="line_42"/>
          <p:cNvSpPr/>
          <p:nvPr/>
        </p:nvSpPr>
        <p:spPr>
          <a:xfrm>
            <a:off x="726186" y="5723763"/>
            <a:ext cx="126492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5" name="line_43"/>
          <p:cNvSpPr/>
          <p:nvPr/>
        </p:nvSpPr>
        <p:spPr>
          <a:xfrm>
            <a:off x="726186" y="5723763"/>
            <a:ext cx="12649" cy="8854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6" name="line_44"/>
          <p:cNvSpPr/>
          <p:nvPr/>
        </p:nvSpPr>
        <p:spPr>
          <a:xfrm flipH="1">
            <a:off x="840029" y="5723763"/>
            <a:ext cx="12649" cy="8854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7" name="line_45"/>
          <p:cNvSpPr/>
          <p:nvPr/>
        </p:nvSpPr>
        <p:spPr>
          <a:xfrm>
            <a:off x="738835" y="5812307"/>
            <a:ext cx="50597" cy="3794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8" name="line_46"/>
          <p:cNvSpPr/>
          <p:nvPr/>
        </p:nvSpPr>
        <p:spPr>
          <a:xfrm flipH="1">
            <a:off x="789432" y="5812307"/>
            <a:ext cx="50597" cy="3794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49" name="line_47"/>
          <p:cNvSpPr/>
          <p:nvPr/>
        </p:nvSpPr>
        <p:spPr>
          <a:xfrm>
            <a:off x="789432" y="5850255"/>
            <a:ext cx="0" cy="5692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0" name="line_48"/>
          <p:cNvSpPr/>
          <p:nvPr/>
        </p:nvSpPr>
        <p:spPr>
          <a:xfrm>
            <a:off x="738835" y="5913501"/>
            <a:ext cx="101194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1" name="line_49"/>
          <p:cNvSpPr/>
          <p:nvPr/>
        </p:nvSpPr>
        <p:spPr>
          <a:xfrm flipH="1">
            <a:off x="688238" y="5749061"/>
            <a:ext cx="37948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2" name="line_50"/>
          <p:cNvSpPr/>
          <p:nvPr/>
        </p:nvSpPr>
        <p:spPr>
          <a:xfrm>
            <a:off x="688238" y="5749061"/>
            <a:ext cx="6325" cy="5692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3" name="line_51"/>
          <p:cNvSpPr/>
          <p:nvPr/>
        </p:nvSpPr>
        <p:spPr>
          <a:xfrm>
            <a:off x="694563" y="5805983"/>
            <a:ext cx="50597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4" name="line_52"/>
          <p:cNvSpPr/>
          <p:nvPr/>
        </p:nvSpPr>
        <p:spPr>
          <a:xfrm>
            <a:off x="852678" y="5749061"/>
            <a:ext cx="37948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5" name="line_53"/>
          <p:cNvSpPr/>
          <p:nvPr/>
        </p:nvSpPr>
        <p:spPr>
          <a:xfrm flipH="1">
            <a:off x="884301" y="5749061"/>
            <a:ext cx="6325" cy="5692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6" name="line_54"/>
          <p:cNvSpPr/>
          <p:nvPr/>
        </p:nvSpPr>
        <p:spPr>
          <a:xfrm flipH="1">
            <a:off x="833704" y="5805983"/>
            <a:ext cx="50597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57" name="과제 우수상"/>
          <p:cNvSpPr txBox="1"/>
          <p:nvPr/>
        </p:nvSpPr>
        <p:spPr>
          <a:xfrm>
            <a:off x="1028700" y="5615940"/>
            <a:ext cx="293370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우수상</a:t>
            </a:r>
            <a:endParaRPr lang="ko-KR" sz="1560" dirty="0"/>
          </a:p>
        </p:txBody>
      </p:sp>
      <p:sp>
        <p:nvSpPr>
          <p:cNvPr id="58" name="AI 과제 완성도 · 과제 성과"/>
          <p:cNvSpPr txBox="1"/>
          <p:nvPr/>
        </p:nvSpPr>
        <p:spPr>
          <a:xfrm>
            <a:off x="1028700" y="5951220"/>
            <a:ext cx="29337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과제 완성도 · 과제 성과</a:t>
            </a:r>
            <a:endParaRPr lang="ko-KR" sz="1260" dirty="0"/>
          </a:p>
        </p:txBody>
      </p:sp>
      <p:sp>
        <p:nvSpPr>
          <p:cNvPr id="59" name="line_57"/>
          <p:cNvSpPr/>
          <p:nvPr/>
        </p:nvSpPr>
        <p:spPr>
          <a:xfrm>
            <a:off x="4175760" y="5654040"/>
            <a:ext cx="0" cy="525780"/>
          </a:xfrm>
          <a:prstGeom prst="line">
            <a:avLst/>
          </a:prstGeom>
          <a:noFill/>
          <a:ln w="11430">
            <a:solidFill>
              <a:srgbClr val="C9DCF8"/>
            </a:solidFill>
            <a:prstDash val="solid"/>
            <a:headEnd type="none"/>
            <a:tailEnd type="none"/>
          </a:ln>
        </p:spPr>
      </p:sp>
      <p:sp>
        <p:nvSpPr>
          <p:cNvPr id="60" name="rect_58"/>
          <p:cNvSpPr/>
          <p:nvPr/>
        </p:nvSpPr>
        <p:spPr>
          <a:xfrm>
            <a:off x="4420743" y="5850255"/>
            <a:ext cx="37948" cy="69571"/>
          </a:xfrm>
          <a:prstGeom prst="rect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61" name="rect_59"/>
          <p:cNvSpPr/>
          <p:nvPr/>
        </p:nvSpPr>
        <p:spPr>
          <a:xfrm>
            <a:off x="4496638" y="5805983"/>
            <a:ext cx="37948" cy="113843"/>
          </a:xfrm>
          <a:prstGeom prst="rect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62" name="rect_60"/>
          <p:cNvSpPr/>
          <p:nvPr/>
        </p:nvSpPr>
        <p:spPr>
          <a:xfrm>
            <a:off x="4572533" y="5749061"/>
            <a:ext cx="37948" cy="170764"/>
          </a:xfrm>
          <a:prstGeom prst="rect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63" name="line_61"/>
          <p:cNvSpPr/>
          <p:nvPr/>
        </p:nvSpPr>
        <p:spPr>
          <a:xfrm flipV="1">
            <a:off x="4414418" y="5711114"/>
            <a:ext cx="164440" cy="8854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64" name="line_62"/>
          <p:cNvSpPr/>
          <p:nvPr/>
        </p:nvSpPr>
        <p:spPr>
          <a:xfrm>
            <a:off x="4540910" y="5711114"/>
            <a:ext cx="44272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65" name="line_63"/>
          <p:cNvSpPr/>
          <p:nvPr/>
        </p:nvSpPr>
        <p:spPr>
          <a:xfrm>
            <a:off x="4585183" y="5711114"/>
            <a:ext cx="0" cy="44272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66" name="개인 발전상"/>
          <p:cNvSpPr txBox="1"/>
          <p:nvPr/>
        </p:nvSpPr>
        <p:spPr>
          <a:xfrm>
            <a:off x="4762500" y="5615940"/>
            <a:ext cx="293370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발전상</a:t>
            </a:r>
            <a:endParaRPr lang="ko-KR" sz="1560" dirty="0"/>
          </a:p>
        </p:txBody>
      </p:sp>
      <p:sp>
        <p:nvSpPr>
          <p:cNvPr id="67" name="AI 활용 역량 향상"/>
          <p:cNvSpPr txBox="1"/>
          <p:nvPr/>
        </p:nvSpPr>
        <p:spPr>
          <a:xfrm>
            <a:off x="4762500" y="5951220"/>
            <a:ext cx="29337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 향상</a:t>
            </a:r>
            <a:endParaRPr lang="ko-KR" sz="1260" dirty="0"/>
          </a:p>
        </p:txBody>
      </p:sp>
      <p:sp>
        <p:nvSpPr>
          <p:cNvPr id="68" name="line_66"/>
          <p:cNvSpPr/>
          <p:nvPr/>
        </p:nvSpPr>
        <p:spPr>
          <a:xfrm>
            <a:off x="7901940" y="5654040"/>
            <a:ext cx="0" cy="525780"/>
          </a:xfrm>
          <a:prstGeom prst="line">
            <a:avLst/>
          </a:prstGeom>
          <a:noFill/>
          <a:ln w="11430">
            <a:solidFill>
              <a:srgbClr val="C9DCF8"/>
            </a:solidFill>
            <a:prstDash val="solid"/>
            <a:headEnd type="none"/>
            <a:tailEnd type="none"/>
          </a:ln>
        </p:spPr>
      </p:sp>
      <p:sp>
        <p:nvSpPr>
          <p:cNvPr id="69" name="ellipse_67"/>
          <p:cNvSpPr/>
          <p:nvPr/>
        </p:nvSpPr>
        <p:spPr>
          <a:xfrm>
            <a:off x="8217789" y="5723763"/>
            <a:ext cx="63246" cy="63246"/>
          </a:xfrm>
          <a:prstGeom prst="ellipse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70" name="ellipse_68"/>
          <p:cNvSpPr/>
          <p:nvPr/>
        </p:nvSpPr>
        <p:spPr>
          <a:xfrm>
            <a:off x="8135569" y="5761711"/>
            <a:ext cx="50597" cy="50597"/>
          </a:xfrm>
          <a:prstGeom prst="ellipse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71" name="ellipse_69"/>
          <p:cNvSpPr/>
          <p:nvPr/>
        </p:nvSpPr>
        <p:spPr>
          <a:xfrm>
            <a:off x="8312658" y="5761711"/>
            <a:ext cx="50597" cy="50597"/>
          </a:xfrm>
          <a:prstGeom prst="ellipse">
            <a:avLst/>
          </a:prstGeom>
          <a:solidFill>
            <a:srgbClr val="FFFFFF">
              <a:alpha val="0"/>
            </a:srgbClr>
          </a:solidFill>
          <a:ln w="13282">
            <a:solidFill>
              <a:srgbClr val="1557C0"/>
            </a:solidFill>
            <a:prstDash val="solid"/>
          </a:ln>
        </p:spPr>
      </p:sp>
      <p:sp>
        <p:nvSpPr>
          <p:cNvPr id="72" name="line_70"/>
          <p:cNvSpPr/>
          <p:nvPr/>
        </p:nvSpPr>
        <p:spPr>
          <a:xfrm>
            <a:off x="8198815" y="5843930"/>
            <a:ext cx="0" cy="6957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3" name="line_71"/>
          <p:cNvSpPr/>
          <p:nvPr/>
        </p:nvSpPr>
        <p:spPr>
          <a:xfrm flipV="1">
            <a:off x="8198815" y="5818632"/>
            <a:ext cx="31623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4" name="line_72"/>
          <p:cNvSpPr/>
          <p:nvPr/>
        </p:nvSpPr>
        <p:spPr>
          <a:xfrm>
            <a:off x="8230438" y="5818632"/>
            <a:ext cx="37948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5" name="line_73"/>
          <p:cNvSpPr/>
          <p:nvPr/>
        </p:nvSpPr>
        <p:spPr>
          <a:xfrm>
            <a:off x="8268386" y="5818632"/>
            <a:ext cx="31623" cy="25298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6" name="line_74"/>
          <p:cNvSpPr/>
          <p:nvPr/>
        </p:nvSpPr>
        <p:spPr>
          <a:xfrm>
            <a:off x="8300009" y="5843930"/>
            <a:ext cx="0" cy="69571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7" name="line_75"/>
          <p:cNvSpPr/>
          <p:nvPr/>
        </p:nvSpPr>
        <p:spPr>
          <a:xfrm flipH="1">
            <a:off x="8122920" y="5843930"/>
            <a:ext cx="18974" cy="1897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8" name="line_76"/>
          <p:cNvSpPr/>
          <p:nvPr/>
        </p:nvSpPr>
        <p:spPr>
          <a:xfrm>
            <a:off x="8122920" y="5862904"/>
            <a:ext cx="0" cy="50597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79" name="line_77"/>
          <p:cNvSpPr/>
          <p:nvPr/>
        </p:nvSpPr>
        <p:spPr>
          <a:xfrm>
            <a:off x="8356930" y="5843930"/>
            <a:ext cx="18974" cy="18974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80" name="line_78"/>
          <p:cNvSpPr/>
          <p:nvPr/>
        </p:nvSpPr>
        <p:spPr>
          <a:xfrm>
            <a:off x="8375904" y="5862904"/>
            <a:ext cx="0" cy="50597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81" name="line_79"/>
          <p:cNvSpPr/>
          <p:nvPr/>
        </p:nvSpPr>
        <p:spPr>
          <a:xfrm>
            <a:off x="8205140" y="5913501"/>
            <a:ext cx="88544" cy="0"/>
          </a:xfrm>
          <a:prstGeom prst="line">
            <a:avLst/>
          </a:prstGeom>
          <a:noFill/>
          <a:ln w="13282">
            <a:solidFill>
              <a:srgbClr val="1557C0"/>
            </a:solidFill>
            <a:prstDash val="solid"/>
            <a:headEnd type="none"/>
            <a:tailEnd type="none"/>
          </a:ln>
        </p:spPr>
      </p:sp>
      <p:sp>
        <p:nvSpPr>
          <p:cNvPr id="82" name="조직 실천상"/>
          <p:cNvSpPr txBox="1"/>
          <p:nvPr/>
        </p:nvSpPr>
        <p:spPr>
          <a:xfrm>
            <a:off x="8496300" y="5615940"/>
            <a:ext cx="2933700" cy="32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b="1" dirty="0">
                <a:solidFill>
                  <a:srgbClr val="1124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실천상</a:t>
            </a:r>
            <a:endParaRPr lang="ko-KR" sz="1560" dirty="0"/>
          </a:p>
        </p:txBody>
      </p:sp>
      <p:sp>
        <p:nvSpPr>
          <p:cNvPr id="83" name="조직별 AI 활용 참여 · 확산"/>
          <p:cNvSpPr txBox="1"/>
          <p:nvPr/>
        </p:nvSpPr>
        <p:spPr>
          <a:xfrm>
            <a:off x="8496300" y="5951220"/>
            <a:ext cx="30099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5867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AI 활용 참여 · 확산</a:t>
            </a:r>
            <a:endParaRPr lang="ko-KR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"/>
          <p:cNvSpPr/>
          <p:nvPr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3" name="rect_1"/>
          <p:cNvSpPr/>
          <p:nvPr/>
        </p:nvSpPr>
        <p:spPr>
          <a:xfrm>
            <a:off x="426720" y="464820"/>
            <a:ext cx="274320" cy="38100"/>
          </a:xfrm>
          <a:prstGeom prst="rect">
            <a:avLst/>
          </a:prstGeom>
          <a:solidFill>
            <a:srgbClr val="DCECC9"/>
          </a:solidFill>
          <a:ln w="12700">
            <a:solidFill>
              <a:srgbClr val="DCECC9">
                <a:alpha val="0"/>
              </a:srgbClr>
            </a:solidFill>
            <a:prstDash val="solid"/>
          </a:ln>
        </p:spPr>
      </p:sp>
      <p:sp>
        <p:nvSpPr>
          <p:cNvPr id="4" name="2026년 품질팀"/>
          <p:cNvSpPr txBox="1"/>
          <p:nvPr/>
        </p:nvSpPr>
        <p:spPr>
          <a:xfrm>
            <a:off x="426720" y="716280"/>
            <a:ext cx="2545080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E8EF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품질팀</a:t>
            </a:r>
            <a:endParaRPr lang="ko-KR" sz="1620" dirty="0"/>
          </a:p>
        </p:txBody>
      </p:sp>
      <p:sp>
        <p:nvSpPr>
          <p:cNvPr id="5" name="AI 실행 결과 발표 대회 (안)"/>
          <p:cNvSpPr txBox="1"/>
          <p:nvPr/>
        </p:nvSpPr>
        <p:spPr>
          <a:xfrm>
            <a:off x="403860" y="1097280"/>
            <a:ext cx="2636520" cy="52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실행 결과</a:t>
            </a:r>
            <a:endParaRPr lang="ko-KR" sz="2580" dirty="0"/>
          </a:p>
        </p:txBody>
      </p:sp>
      <p:sp>
        <p:nvSpPr>
          <p:cNvPr id="6" name="AI 실행 결과 발표 대회 (안)_1"/>
          <p:cNvSpPr txBox="1"/>
          <p:nvPr/>
        </p:nvSpPr>
        <p:spPr>
          <a:xfrm>
            <a:off x="403860" y="1510132"/>
            <a:ext cx="2636520" cy="52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대회 (안)</a:t>
            </a:r>
            <a:endParaRPr lang="ko-KR" sz="2580" dirty="0"/>
          </a:p>
        </p:txBody>
      </p:sp>
      <p:sp>
        <p:nvSpPr>
          <p:cNvPr id="7" name="AI 우수 과제와 AI 활용 역량 향상 사례 공유로 품질팀 AI 실천 문화 확산"/>
          <p:cNvSpPr txBox="1"/>
          <p:nvPr/>
        </p:nvSpPr>
        <p:spPr>
          <a:xfrm>
            <a:off x="426720" y="2179320"/>
            <a:ext cx="256032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우수 과제와</a:t>
            </a:r>
            <a:endParaRPr lang="ko-KR" sz="1320" dirty="0"/>
          </a:p>
        </p:txBody>
      </p:sp>
      <p:sp>
        <p:nvSpPr>
          <p:cNvPr id="8" name="AI 우수 과제와 AI 활용 역량 향상 사례 공유로 품질팀 AI 실천 문화 확산_1"/>
          <p:cNvSpPr txBox="1"/>
          <p:nvPr/>
        </p:nvSpPr>
        <p:spPr>
          <a:xfrm>
            <a:off x="426720" y="2439162"/>
            <a:ext cx="256032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 향상 사례 공유로</a:t>
            </a:r>
            <a:endParaRPr lang="ko-KR" sz="1320" dirty="0"/>
          </a:p>
        </p:txBody>
      </p:sp>
      <p:sp>
        <p:nvSpPr>
          <p:cNvPr id="9" name="AI 우수 과제와 AI 활용 역량 향상 사례 공유로 품질팀 AI 실천 문화 확산_2"/>
          <p:cNvSpPr txBox="1"/>
          <p:nvPr/>
        </p:nvSpPr>
        <p:spPr>
          <a:xfrm>
            <a:off x="426720" y="2699004"/>
            <a:ext cx="256032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 AI 실천 문화 확산</a:t>
            </a:r>
            <a:endParaRPr lang="ko-KR" sz="1320" dirty="0"/>
          </a:p>
        </p:txBody>
      </p:sp>
      <p:sp>
        <p:nvSpPr>
          <p:cNvPr id="10" name="line_5"/>
          <p:cNvSpPr/>
          <p:nvPr/>
        </p:nvSpPr>
        <p:spPr>
          <a:xfrm>
            <a:off x="426720" y="3215640"/>
            <a:ext cx="2499360" cy="0"/>
          </a:xfrm>
          <a:prstGeom prst="line">
            <a:avLst/>
          </a:prstGeom>
          <a:noFill/>
          <a:ln w="7620">
            <a:solidFill>
              <a:srgbClr val="4D7064"/>
            </a:solidFill>
            <a:prstDash val="solid"/>
            <a:headEnd type="none"/>
            <a:tailEnd type="none"/>
          </a:ln>
        </p:spPr>
      </p:sp>
      <p:sp>
        <p:nvSpPr>
          <p:cNvPr id="11" name="AI를 학습하는 단계에서,"/>
          <p:cNvSpPr txBox="1"/>
          <p:nvPr/>
        </p:nvSpPr>
        <p:spPr>
          <a:xfrm>
            <a:off x="426720" y="3535680"/>
            <a:ext cx="25679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학습하는 단계에서,</a:t>
            </a:r>
            <a:endParaRPr lang="ko-KR" sz="1440" dirty="0"/>
          </a:p>
        </p:txBody>
      </p:sp>
      <p:sp>
        <p:nvSpPr>
          <p:cNvPr id="12" name="활용하고 성과 내는 AI로"/>
          <p:cNvSpPr txBox="1"/>
          <p:nvPr/>
        </p:nvSpPr>
        <p:spPr>
          <a:xfrm>
            <a:off x="411480" y="3870960"/>
            <a:ext cx="2606040" cy="451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20" b="1" dirty="0">
                <a:solidFill>
                  <a:srgbClr val="DCEC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활용하고</a:t>
            </a:r>
            <a:endParaRPr lang="ko-KR" sz="2220" dirty="0"/>
          </a:p>
        </p:txBody>
      </p:sp>
      <p:sp>
        <p:nvSpPr>
          <p:cNvPr id="13" name="활용하고 성과 내는 AI로_1"/>
          <p:cNvSpPr txBox="1"/>
          <p:nvPr/>
        </p:nvSpPr>
        <p:spPr>
          <a:xfrm>
            <a:off x="411480" y="4248760"/>
            <a:ext cx="2606040" cy="451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20" b="1" dirty="0">
                <a:solidFill>
                  <a:srgbClr val="DCEC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내는 AI로</a:t>
            </a:r>
            <a:endParaRPr lang="ko-KR" sz="2220" dirty="0"/>
          </a:p>
        </p:txBody>
      </p:sp>
      <p:sp>
        <p:nvSpPr>
          <p:cNvPr id="14" name="line_8"/>
          <p:cNvSpPr/>
          <p:nvPr/>
        </p:nvSpPr>
        <p:spPr>
          <a:xfrm>
            <a:off x="426720" y="5006340"/>
            <a:ext cx="2499360" cy="0"/>
          </a:xfrm>
          <a:prstGeom prst="line">
            <a:avLst/>
          </a:prstGeom>
          <a:noFill/>
          <a:ln w="7620">
            <a:solidFill>
              <a:srgbClr val="4D7064"/>
            </a:solidFill>
            <a:prstDash val="solid"/>
            <a:headEnd type="none"/>
            <a:tailEnd type="none"/>
          </a:ln>
        </p:spPr>
      </p:sp>
      <p:sp>
        <p:nvSpPr>
          <p:cNvPr id="15" name="본선 우수 과제"/>
          <p:cNvSpPr txBox="1"/>
          <p:nvPr/>
        </p:nvSpPr>
        <p:spPr>
          <a:xfrm>
            <a:off x="426720" y="5250180"/>
            <a:ext cx="11430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B6C9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우수 과제</a:t>
            </a:r>
            <a:endParaRPr lang="ko-KR" sz="1080" dirty="0"/>
          </a:p>
        </p:txBody>
      </p:sp>
      <p:sp>
        <p:nvSpPr>
          <p:cNvPr id="16" name="5~7건"/>
          <p:cNvSpPr txBox="1"/>
          <p:nvPr/>
        </p:nvSpPr>
        <p:spPr>
          <a:xfrm>
            <a:off x="411480" y="5494020"/>
            <a:ext cx="1325880" cy="52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5~7건</a:t>
            </a:r>
            <a:endParaRPr lang="ko-KR" sz="2580" dirty="0"/>
          </a:p>
        </p:txBody>
      </p:sp>
      <p:sp>
        <p:nvSpPr>
          <p:cNvPr id="17" name="line_11"/>
          <p:cNvSpPr/>
          <p:nvPr/>
        </p:nvSpPr>
        <p:spPr>
          <a:xfrm>
            <a:off x="1805940" y="5303520"/>
            <a:ext cx="0" cy="624840"/>
          </a:xfrm>
          <a:prstGeom prst="line">
            <a:avLst/>
          </a:prstGeom>
          <a:noFill/>
          <a:ln w="7620">
            <a:solidFill>
              <a:srgbClr val="4D7064"/>
            </a:solidFill>
            <a:prstDash val="solid"/>
            <a:headEnd type="none"/>
            <a:tailEnd type="none"/>
          </a:ln>
        </p:spPr>
      </p:sp>
      <p:sp>
        <p:nvSpPr>
          <p:cNvPr id="18" name="본선 개최"/>
          <p:cNvSpPr txBox="1"/>
          <p:nvPr/>
        </p:nvSpPr>
        <p:spPr>
          <a:xfrm>
            <a:off x="2026920" y="5250180"/>
            <a:ext cx="11125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B6C9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개최</a:t>
            </a:r>
            <a:endParaRPr lang="ko-KR" sz="1080" dirty="0"/>
          </a:p>
        </p:txBody>
      </p:sp>
      <p:sp>
        <p:nvSpPr>
          <p:cNvPr id="19" name="11월 2주"/>
          <p:cNvSpPr txBox="1"/>
          <p:nvPr/>
        </p:nvSpPr>
        <p:spPr>
          <a:xfrm>
            <a:off x="2011680" y="5554980"/>
            <a:ext cx="1143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</a:t>
            </a:r>
            <a:endParaRPr lang="ko-KR" sz="1680" dirty="0"/>
          </a:p>
        </p:txBody>
      </p:sp>
      <p:sp>
        <p:nvSpPr>
          <p:cNvPr id="20" name="2026.10.13."/>
          <p:cNvSpPr txBox="1"/>
          <p:nvPr/>
        </p:nvSpPr>
        <p:spPr>
          <a:xfrm>
            <a:off x="426720" y="6347460"/>
            <a:ext cx="1676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B6C9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2026.10.13.</a:t>
            </a:r>
            <a:endParaRPr lang="ko-KR" sz="1200" dirty="0"/>
          </a:p>
        </p:txBody>
      </p:sp>
      <p:sp>
        <p:nvSpPr>
          <p:cNvPr id="21" name="01"/>
          <p:cNvSpPr txBox="1"/>
          <p:nvPr/>
        </p:nvSpPr>
        <p:spPr>
          <a:xfrm>
            <a:off x="3764280" y="388620"/>
            <a:ext cx="3581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8191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20" dirty="0"/>
          </a:p>
        </p:txBody>
      </p:sp>
      <p:sp>
        <p:nvSpPr>
          <p:cNvPr id="22" name="운영 계획"/>
          <p:cNvSpPr txBox="1"/>
          <p:nvPr/>
        </p:nvSpPr>
        <p:spPr>
          <a:xfrm>
            <a:off x="4175760" y="350520"/>
            <a:ext cx="4724400" cy="3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계획</a:t>
            </a:r>
            <a:endParaRPr lang="ko-KR" sz="1740" dirty="0"/>
          </a:p>
        </p:txBody>
      </p:sp>
      <p:sp>
        <p:nvSpPr>
          <p:cNvPr id="23" name="line_17"/>
          <p:cNvSpPr/>
          <p:nvPr/>
        </p:nvSpPr>
        <p:spPr>
          <a:xfrm>
            <a:off x="3764280" y="72390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24" name="rect_18"/>
          <p:cNvSpPr/>
          <p:nvPr/>
        </p:nvSpPr>
        <p:spPr>
          <a:xfrm>
            <a:off x="3764280" y="906780"/>
            <a:ext cx="3870960" cy="990600"/>
          </a:xfrm>
          <a:prstGeom prst="roundRect">
            <a:avLst>
              <a:gd name="adj" fmla="val 9231"/>
            </a:avLst>
          </a:prstGeom>
          <a:solidFill>
            <a:srgbClr val="EFF2EB"/>
          </a:solidFill>
          <a:ln w="12700">
            <a:solidFill>
              <a:srgbClr val="EFF2EB">
                <a:alpha val="0"/>
              </a:srgbClr>
            </a:solidFill>
            <a:prstDash val="solid"/>
          </a:ln>
        </p:spPr>
      </p:sp>
      <p:sp>
        <p:nvSpPr>
          <p:cNvPr id="25" name="rect_19"/>
          <p:cNvSpPr/>
          <p:nvPr/>
        </p:nvSpPr>
        <p:spPr>
          <a:xfrm>
            <a:off x="7802880" y="906780"/>
            <a:ext cx="3962400" cy="990600"/>
          </a:xfrm>
          <a:prstGeom prst="roundRect">
            <a:avLst>
              <a:gd name="adj" fmla="val 9231"/>
            </a:avLst>
          </a:prstGeom>
          <a:solidFill>
            <a:srgbClr val="EFF2EB"/>
          </a:solidFill>
          <a:ln w="12700">
            <a:solidFill>
              <a:srgbClr val="EFF2EB">
                <a:alpha val="0"/>
              </a:srgbClr>
            </a:solidFill>
            <a:prstDash val="solid"/>
          </a:ln>
        </p:spPr>
      </p:sp>
      <p:sp>
        <p:nvSpPr>
          <p:cNvPr id="26" name="예선"/>
          <p:cNvSpPr txBox="1"/>
          <p:nvPr/>
        </p:nvSpPr>
        <p:spPr>
          <a:xfrm>
            <a:off x="3947160" y="1059180"/>
            <a:ext cx="6705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예선</a:t>
            </a:r>
            <a:endParaRPr lang="ko-KR" sz="1500" dirty="0"/>
          </a:p>
        </p:txBody>
      </p:sp>
      <p:sp>
        <p:nvSpPr>
          <p:cNvPr id="27" name="~10월"/>
          <p:cNvSpPr txBox="1"/>
          <p:nvPr/>
        </p:nvSpPr>
        <p:spPr>
          <a:xfrm>
            <a:off x="5928360" y="1082040"/>
            <a:ext cx="15087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~10월</a:t>
            </a:r>
            <a:endParaRPr lang="ko-KR" sz="1320" dirty="0"/>
          </a:p>
        </p:txBody>
      </p:sp>
      <p:sp>
        <p:nvSpPr>
          <p:cNvPr id="28" name="그룹·PJT별 우수 과제 1~2건 추천"/>
          <p:cNvSpPr txBox="1"/>
          <p:nvPr/>
        </p:nvSpPr>
        <p:spPr>
          <a:xfrm>
            <a:off x="3947160" y="1386840"/>
            <a:ext cx="34290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그룹·PJT별 우수 과제</a:t>
            </a:r>
            <a:endParaRPr lang="ko-KR" sz="1320" dirty="0"/>
          </a:p>
        </p:txBody>
      </p:sp>
      <p:sp>
        <p:nvSpPr>
          <p:cNvPr id="29" name="그룹·PJT별 우수 과제 1~2건 추천_1"/>
          <p:cNvSpPr txBox="1"/>
          <p:nvPr/>
        </p:nvSpPr>
        <p:spPr>
          <a:xfrm>
            <a:off x="3947160" y="1613154"/>
            <a:ext cx="34290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1~2건 추천</a:t>
            </a:r>
            <a:endParaRPr lang="ko-KR" sz="1320" dirty="0"/>
          </a:p>
        </p:txBody>
      </p:sp>
      <p:sp>
        <p:nvSpPr>
          <p:cNvPr id="30" name="본선"/>
          <p:cNvSpPr txBox="1"/>
          <p:nvPr/>
        </p:nvSpPr>
        <p:spPr>
          <a:xfrm>
            <a:off x="7985760" y="1059180"/>
            <a:ext cx="6705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</a:t>
            </a:r>
            <a:endParaRPr lang="ko-KR" sz="1500" dirty="0"/>
          </a:p>
        </p:txBody>
      </p:sp>
      <p:sp>
        <p:nvSpPr>
          <p:cNvPr id="31" name="11월 2주"/>
          <p:cNvSpPr txBox="1"/>
          <p:nvPr/>
        </p:nvSpPr>
        <p:spPr>
          <a:xfrm>
            <a:off x="9730740" y="1082040"/>
            <a:ext cx="182118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</a:t>
            </a:r>
            <a:endParaRPr lang="ko-KR" sz="1320" dirty="0"/>
          </a:p>
        </p:txBody>
      </p:sp>
      <p:sp>
        <p:nvSpPr>
          <p:cNvPr id="32" name="우수 과제 5~7건 과제별 발표 7분 + 질의응답 2분"/>
          <p:cNvSpPr txBox="1"/>
          <p:nvPr/>
        </p:nvSpPr>
        <p:spPr>
          <a:xfrm>
            <a:off x="7985760" y="1386840"/>
            <a:ext cx="35966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과제 5~7건</a:t>
            </a:r>
            <a:endParaRPr lang="ko-KR" sz="1320" dirty="0"/>
          </a:p>
        </p:txBody>
      </p:sp>
      <p:sp>
        <p:nvSpPr>
          <p:cNvPr id="33" name="우수 과제 5~7건 과제별 발표 7분 + 질의응답 2분_1"/>
          <p:cNvSpPr txBox="1"/>
          <p:nvPr/>
        </p:nvSpPr>
        <p:spPr>
          <a:xfrm>
            <a:off x="7985760" y="1613154"/>
            <a:ext cx="35966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발표 7분 + 질의응답 2분</a:t>
            </a:r>
            <a:endParaRPr lang="ko-KR" sz="1320" dirty="0"/>
          </a:p>
        </p:txBody>
      </p:sp>
      <p:sp>
        <p:nvSpPr>
          <p:cNvPr id="34" name="심사위원"/>
          <p:cNvSpPr txBox="1"/>
          <p:nvPr/>
        </p:nvSpPr>
        <p:spPr>
          <a:xfrm>
            <a:off x="3794760" y="2049780"/>
            <a:ext cx="8305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심사위원</a:t>
            </a:r>
            <a:endParaRPr lang="ko-KR" sz="1200" dirty="0"/>
          </a:p>
        </p:txBody>
      </p:sp>
      <p:sp>
        <p:nvSpPr>
          <p:cNvPr id="35" name="품질팀장 · 그룹장/PL"/>
          <p:cNvSpPr txBox="1"/>
          <p:nvPr/>
        </p:nvSpPr>
        <p:spPr>
          <a:xfrm>
            <a:off x="4686300" y="2049780"/>
            <a:ext cx="70104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260" dirty="0"/>
          </a:p>
        </p:txBody>
      </p:sp>
      <p:sp>
        <p:nvSpPr>
          <p:cNvPr id="36" name="02"/>
          <p:cNvSpPr txBox="1"/>
          <p:nvPr/>
        </p:nvSpPr>
        <p:spPr>
          <a:xfrm>
            <a:off x="3764280" y="2545080"/>
            <a:ext cx="3581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8191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20" dirty="0"/>
          </a:p>
        </p:txBody>
      </p:sp>
      <p:sp>
        <p:nvSpPr>
          <p:cNvPr id="37" name="진행 프로그램"/>
          <p:cNvSpPr txBox="1"/>
          <p:nvPr/>
        </p:nvSpPr>
        <p:spPr>
          <a:xfrm>
            <a:off x="4175760" y="2506980"/>
            <a:ext cx="4724400" cy="3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프로그램</a:t>
            </a:r>
            <a:endParaRPr lang="ko-KR" sz="1740" dirty="0"/>
          </a:p>
        </p:txBody>
      </p:sp>
      <p:sp>
        <p:nvSpPr>
          <p:cNvPr id="38" name="rect_30"/>
          <p:cNvSpPr/>
          <p:nvPr/>
        </p:nvSpPr>
        <p:spPr>
          <a:xfrm>
            <a:off x="10576560" y="2514600"/>
            <a:ext cx="1188720" cy="281940"/>
          </a:xfrm>
          <a:prstGeom prst="roundRect">
            <a:avLst>
              <a:gd name="adj" fmla="val 50000"/>
            </a:avLst>
          </a:prstGeom>
          <a:solidFill>
            <a:srgbClr val="E7EDDF"/>
          </a:solidFill>
          <a:ln w="12700">
            <a:solidFill>
              <a:srgbClr val="E7EDDF">
                <a:alpha val="0"/>
              </a:srgbClr>
            </a:solidFill>
            <a:prstDash val="solid"/>
          </a:ln>
        </p:spPr>
      </p:sp>
      <p:sp>
        <p:nvSpPr>
          <p:cNvPr id="39" name="약 90분 (안)"/>
          <p:cNvSpPr txBox="1"/>
          <p:nvPr/>
        </p:nvSpPr>
        <p:spPr>
          <a:xfrm>
            <a:off x="10576560" y="2552700"/>
            <a:ext cx="118872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90분 (안)</a:t>
            </a:r>
            <a:endParaRPr lang="ko-KR" sz="1200" dirty="0"/>
          </a:p>
        </p:txBody>
      </p:sp>
      <p:sp>
        <p:nvSpPr>
          <p:cNvPr id="40" name="line_32"/>
          <p:cNvSpPr/>
          <p:nvPr/>
        </p:nvSpPr>
        <p:spPr>
          <a:xfrm>
            <a:off x="3764280" y="291084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41" name="프로그램"/>
          <p:cNvSpPr txBox="1"/>
          <p:nvPr/>
        </p:nvSpPr>
        <p:spPr>
          <a:xfrm>
            <a:off x="3886200" y="3025140"/>
            <a:ext cx="34290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</a:t>
            </a:r>
            <a:endParaRPr lang="ko-KR" sz="1080" dirty="0"/>
          </a:p>
        </p:txBody>
      </p:sp>
      <p:sp>
        <p:nvSpPr>
          <p:cNvPr id="42" name="시간"/>
          <p:cNvSpPr txBox="1"/>
          <p:nvPr/>
        </p:nvSpPr>
        <p:spPr>
          <a:xfrm>
            <a:off x="7642860" y="3025140"/>
            <a:ext cx="14478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ko-KR" sz="1080" dirty="0"/>
          </a:p>
        </p:txBody>
      </p:sp>
      <p:sp>
        <p:nvSpPr>
          <p:cNvPr id="43" name="진행"/>
          <p:cNvSpPr txBox="1"/>
          <p:nvPr/>
        </p:nvSpPr>
        <p:spPr>
          <a:xfrm>
            <a:off x="9578340" y="3025140"/>
            <a:ext cx="208788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</a:t>
            </a:r>
            <a:endParaRPr lang="ko-KR" sz="1080" dirty="0"/>
          </a:p>
        </p:txBody>
      </p:sp>
      <p:sp>
        <p:nvSpPr>
          <p:cNvPr id="44" name="line_36"/>
          <p:cNvSpPr/>
          <p:nvPr/>
        </p:nvSpPr>
        <p:spPr>
          <a:xfrm>
            <a:off x="3764280" y="332232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45" name="개회사·도입영상"/>
          <p:cNvSpPr txBox="1"/>
          <p:nvPr/>
        </p:nvSpPr>
        <p:spPr>
          <a:xfrm>
            <a:off x="3886200" y="341376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개회사·도입영상</a:t>
            </a:r>
            <a:endParaRPr lang="ko-KR" sz="1380" dirty="0"/>
          </a:p>
        </p:txBody>
      </p:sp>
      <p:sp>
        <p:nvSpPr>
          <p:cNvPr id="46" name="5분"/>
          <p:cNvSpPr txBox="1"/>
          <p:nvPr/>
        </p:nvSpPr>
        <p:spPr>
          <a:xfrm>
            <a:off x="7642860" y="342138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ko-KR" sz="1260" dirty="0"/>
          </a:p>
        </p:txBody>
      </p:sp>
      <p:sp>
        <p:nvSpPr>
          <p:cNvPr id="47" name="사회자"/>
          <p:cNvSpPr txBox="1"/>
          <p:nvPr/>
        </p:nvSpPr>
        <p:spPr>
          <a:xfrm>
            <a:off x="9578340" y="342138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</a:t>
            </a:r>
            <a:endParaRPr lang="ko-KR" sz="1200" dirty="0"/>
          </a:p>
        </p:txBody>
      </p:sp>
      <p:sp>
        <p:nvSpPr>
          <p:cNvPr id="48" name="line_40"/>
          <p:cNvSpPr/>
          <p:nvPr/>
        </p:nvSpPr>
        <p:spPr>
          <a:xfrm>
            <a:off x="3764280" y="371856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49" name="기조연설"/>
          <p:cNvSpPr txBox="1"/>
          <p:nvPr/>
        </p:nvSpPr>
        <p:spPr>
          <a:xfrm>
            <a:off x="3886200" y="380238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기조연설</a:t>
            </a:r>
            <a:endParaRPr lang="ko-KR" sz="1380" dirty="0"/>
          </a:p>
        </p:txBody>
      </p:sp>
      <p:sp>
        <p:nvSpPr>
          <p:cNvPr id="50" name="20분"/>
          <p:cNvSpPr txBox="1"/>
          <p:nvPr/>
        </p:nvSpPr>
        <p:spPr>
          <a:xfrm>
            <a:off x="7642860" y="381000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ko-KR" sz="1260" dirty="0"/>
          </a:p>
        </p:txBody>
      </p:sp>
      <p:sp>
        <p:nvSpPr>
          <p:cNvPr id="51" name="품질팀장"/>
          <p:cNvSpPr txBox="1"/>
          <p:nvPr/>
        </p:nvSpPr>
        <p:spPr>
          <a:xfrm>
            <a:off x="9578340" y="381000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200" dirty="0"/>
          </a:p>
        </p:txBody>
      </p:sp>
      <p:sp>
        <p:nvSpPr>
          <p:cNvPr id="52" name="line_44"/>
          <p:cNvSpPr/>
          <p:nvPr/>
        </p:nvSpPr>
        <p:spPr>
          <a:xfrm>
            <a:off x="3764280" y="410718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53" name="본선 발표"/>
          <p:cNvSpPr txBox="1"/>
          <p:nvPr/>
        </p:nvSpPr>
        <p:spPr>
          <a:xfrm>
            <a:off x="3886200" y="419100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발표</a:t>
            </a:r>
            <a:endParaRPr lang="ko-KR" sz="1380" dirty="0"/>
          </a:p>
        </p:txBody>
      </p:sp>
      <p:sp>
        <p:nvSpPr>
          <p:cNvPr id="54" name="7분 + Q&amp;amp;A 2분"/>
          <p:cNvSpPr txBox="1"/>
          <p:nvPr/>
        </p:nvSpPr>
        <p:spPr>
          <a:xfrm>
            <a:off x="7642860" y="419862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7분 + Q&amp;A 2분</a:t>
            </a:r>
            <a:endParaRPr lang="ko-KR" sz="1260" dirty="0"/>
          </a:p>
        </p:txBody>
      </p:sp>
      <p:sp>
        <p:nvSpPr>
          <p:cNvPr id="55" name="과제 발표자"/>
          <p:cNvSpPr txBox="1"/>
          <p:nvPr/>
        </p:nvSpPr>
        <p:spPr>
          <a:xfrm>
            <a:off x="9578340" y="419862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발표자</a:t>
            </a:r>
            <a:endParaRPr lang="ko-KR" sz="1200" dirty="0"/>
          </a:p>
        </p:txBody>
      </p:sp>
      <p:sp>
        <p:nvSpPr>
          <p:cNvPr id="56" name="line_48"/>
          <p:cNvSpPr/>
          <p:nvPr/>
        </p:nvSpPr>
        <p:spPr>
          <a:xfrm>
            <a:off x="3764280" y="449580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57" name="심사·시상"/>
          <p:cNvSpPr txBox="1"/>
          <p:nvPr/>
        </p:nvSpPr>
        <p:spPr>
          <a:xfrm>
            <a:off x="3886200" y="457962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심사·시상</a:t>
            </a:r>
            <a:endParaRPr lang="ko-KR" sz="1380" dirty="0"/>
          </a:p>
        </p:txBody>
      </p:sp>
      <p:sp>
        <p:nvSpPr>
          <p:cNvPr id="58" name="10분"/>
          <p:cNvSpPr txBox="1"/>
          <p:nvPr/>
        </p:nvSpPr>
        <p:spPr>
          <a:xfrm>
            <a:off x="7642860" y="458724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ko-KR" sz="1260" dirty="0"/>
          </a:p>
        </p:txBody>
      </p:sp>
      <p:sp>
        <p:nvSpPr>
          <p:cNvPr id="59" name="품질팀장·그룹장/PL"/>
          <p:cNvSpPr txBox="1"/>
          <p:nvPr/>
        </p:nvSpPr>
        <p:spPr>
          <a:xfrm>
            <a:off x="9578340" y="458724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품질팀장·그룹장/PL</a:t>
            </a:r>
            <a:endParaRPr lang="ko-KR" sz="1200" dirty="0"/>
          </a:p>
        </p:txBody>
      </p:sp>
      <p:sp>
        <p:nvSpPr>
          <p:cNvPr id="60" name="line_52"/>
          <p:cNvSpPr/>
          <p:nvPr/>
        </p:nvSpPr>
        <p:spPr>
          <a:xfrm>
            <a:off x="3764280" y="488442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61" name="03"/>
          <p:cNvSpPr txBox="1"/>
          <p:nvPr/>
        </p:nvSpPr>
        <p:spPr>
          <a:xfrm>
            <a:off x="3764280" y="5166360"/>
            <a:ext cx="3581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8191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20" dirty="0"/>
          </a:p>
        </p:txBody>
      </p:sp>
      <p:sp>
        <p:nvSpPr>
          <p:cNvPr id="62" name="시상 부문"/>
          <p:cNvSpPr txBox="1"/>
          <p:nvPr/>
        </p:nvSpPr>
        <p:spPr>
          <a:xfrm>
            <a:off x="4175760" y="5128260"/>
            <a:ext cx="4724400" cy="3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시상 부문</a:t>
            </a:r>
            <a:endParaRPr lang="ko-KR" sz="1740" dirty="0"/>
          </a:p>
        </p:txBody>
      </p:sp>
      <p:sp>
        <p:nvSpPr>
          <p:cNvPr id="63" name="rect_55"/>
          <p:cNvSpPr/>
          <p:nvPr/>
        </p:nvSpPr>
        <p:spPr>
          <a:xfrm>
            <a:off x="3764280" y="5593080"/>
            <a:ext cx="2575560" cy="84582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7620">
            <a:solidFill>
              <a:srgbClr val="DCE3D8"/>
            </a:solidFill>
            <a:prstDash val="solid"/>
          </a:ln>
        </p:spPr>
      </p:sp>
      <p:sp>
        <p:nvSpPr>
          <p:cNvPr id="64" name="rect_56"/>
          <p:cNvSpPr/>
          <p:nvPr/>
        </p:nvSpPr>
        <p:spPr>
          <a:xfrm>
            <a:off x="3931920" y="5768340"/>
            <a:ext cx="30480" cy="167640"/>
          </a:xfrm>
          <a:prstGeom prst="roundRect">
            <a:avLst>
              <a:gd name="adj" fmla="val 50000"/>
            </a:avLst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65" name="과제 우수상"/>
          <p:cNvSpPr txBox="1"/>
          <p:nvPr/>
        </p:nvSpPr>
        <p:spPr>
          <a:xfrm>
            <a:off x="4069080" y="5722620"/>
            <a:ext cx="21107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우수상</a:t>
            </a:r>
            <a:endParaRPr lang="ko-KR" sz="1440" dirty="0"/>
          </a:p>
        </p:txBody>
      </p:sp>
      <p:sp>
        <p:nvSpPr>
          <p:cNvPr id="66" name="AI 과제 완성도·과제 성과"/>
          <p:cNvSpPr txBox="1"/>
          <p:nvPr/>
        </p:nvSpPr>
        <p:spPr>
          <a:xfrm>
            <a:off x="3931920" y="6096000"/>
            <a:ext cx="22707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과제 완성도·과제 성과</a:t>
            </a:r>
            <a:endParaRPr lang="ko-KR" sz="1140" dirty="0"/>
          </a:p>
        </p:txBody>
      </p:sp>
      <p:sp>
        <p:nvSpPr>
          <p:cNvPr id="67" name="rect_59"/>
          <p:cNvSpPr/>
          <p:nvPr/>
        </p:nvSpPr>
        <p:spPr>
          <a:xfrm>
            <a:off x="6477000" y="5593080"/>
            <a:ext cx="2575560" cy="84582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7620">
            <a:solidFill>
              <a:srgbClr val="DCE3D8"/>
            </a:solidFill>
            <a:prstDash val="solid"/>
          </a:ln>
        </p:spPr>
      </p:sp>
      <p:sp>
        <p:nvSpPr>
          <p:cNvPr id="68" name="rect_60"/>
          <p:cNvSpPr/>
          <p:nvPr/>
        </p:nvSpPr>
        <p:spPr>
          <a:xfrm>
            <a:off x="6644640" y="5768340"/>
            <a:ext cx="30480" cy="167640"/>
          </a:xfrm>
          <a:prstGeom prst="roundRect">
            <a:avLst>
              <a:gd name="adj" fmla="val 50000"/>
            </a:avLst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69" name="개인 발전상"/>
          <p:cNvSpPr txBox="1"/>
          <p:nvPr/>
        </p:nvSpPr>
        <p:spPr>
          <a:xfrm>
            <a:off x="6781800" y="5722620"/>
            <a:ext cx="21107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발전상</a:t>
            </a:r>
            <a:endParaRPr lang="ko-KR" sz="1440" dirty="0"/>
          </a:p>
        </p:txBody>
      </p:sp>
      <p:sp>
        <p:nvSpPr>
          <p:cNvPr id="70" name="AI 활용 역량 향상"/>
          <p:cNvSpPr txBox="1"/>
          <p:nvPr/>
        </p:nvSpPr>
        <p:spPr>
          <a:xfrm>
            <a:off x="6644640" y="6096000"/>
            <a:ext cx="22707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 향상</a:t>
            </a:r>
            <a:endParaRPr lang="ko-KR" sz="1140" dirty="0"/>
          </a:p>
        </p:txBody>
      </p:sp>
      <p:sp>
        <p:nvSpPr>
          <p:cNvPr id="71" name="rect_63"/>
          <p:cNvSpPr/>
          <p:nvPr/>
        </p:nvSpPr>
        <p:spPr>
          <a:xfrm>
            <a:off x="9189720" y="5593080"/>
            <a:ext cx="2575560" cy="84582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7620">
            <a:solidFill>
              <a:srgbClr val="DCE3D8"/>
            </a:solidFill>
            <a:prstDash val="solid"/>
          </a:ln>
        </p:spPr>
      </p:sp>
      <p:sp>
        <p:nvSpPr>
          <p:cNvPr id="72" name="rect_64"/>
          <p:cNvSpPr/>
          <p:nvPr/>
        </p:nvSpPr>
        <p:spPr>
          <a:xfrm>
            <a:off x="9357360" y="5768340"/>
            <a:ext cx="30480" cy="167640"/>
          </a:xfrm>
          <a:prstGeom prst="roundRect">
            <a:avLst>
              <a:gd name="adj" fmla="val 50000"/>
            </a:avLst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73" name="조직 실천상"/>
          <p:cNvSpPr txBox="1"/>
          <p:nvPr/>
        </p:nvSpPr>
        <p:spPr>
          <a:xfrm>
            <a:off x="9494520" y="5722620"/>
            <a:ext cx="21107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실천상</a:t>
            </a:r>
            <a:endParaRPr lang="ko-KR" sz="1440" dirty="0"/>
          </a:p>
        </p:txBody>
      </p:sp>
      <p:sp>
        <p:nvSpPr>
          <p:cNvPr id="74" name="조직별 AI 활용 참여·확산"/>
          <p:cNvSpPr txBox="1"/>
          <p:nvPr/>
        </p:nvSpPr>
        <p:spPr>
          <a:xfrm>
            <a:off x="9357360" y="6096000"/>
            <a:ext cx="22707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AI 활용 참여·확산</a:t>
            </a:r>
            <a:endParaRPr lang="ko-KR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품질팀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품질팀 AI 실행 결과 발표 대회 — 디자인 3종</dc:title>
  <dc:subject>2026년 품질팀 AI 실행 결과 발표 대회 운영안</dc:subject>
  <dc:creator>품질팀</dc:creator>
  <cp:lastModifiedBy>품질팀</cp:lastModifiedBy>
  <cp:revision>1</cp:revision>
  <dcterms:created xsi:type="dcterms:W3CDTF">2026-10-13T02:24:32Z</dcterms:created>
  <dcterms:modified xsi:type="dcterms:W3CDTF">2026-10-13T02:24:32Z</dcterms:modified>
</cp:coreProperties>
</file>