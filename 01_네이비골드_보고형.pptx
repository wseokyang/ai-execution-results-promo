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원안의 주요 내용과 범위를 유지했습니다. 원안의 총 90분은 발표 과제 수와 질의응답을 반영하면 80~98분 범위이므로 약 90분(안)으로 표기했습니다. 6건 진행 시 89분입니다. 모든 텍스트와 도형은 편집할 수 있습니다.
사용 글꼴: Noto Sans KR. 원본 기준일: 2026-10-13.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"/>
          <p:cNvSpPr/>
          <p:nvPr/>
        </p:nvSpPr>
        <p:spPr>
          <a:xfrm>
            <a:off x="426720" y="327660"/>
            <a:ext cx="220980" cy="30480"/>
          </a:xfrm>
          <a:prstGeom prst="rect">
            <a:avLst/>
          </a:prstGeom>
          <a:solidFill>
            <a:srgbClr val="B98743"/>
          </a:solidFill>
          <a:ln w="12700">
            <a:solidFill>
              <a:srgbClr val="B98743">
                <a:alpha val="0"/>
              </a:srgbClr>
            </a:solidFill>
            <a:prstDash val="solid"/>
          </a:ln>
        </p:spPr>
      </p:sp>
      <p:sp>
        <p:nvSpPr>
          <p:cNvPr id="3" name="QUALITY TEAM  /  AI EXECUTION"/>
          <p:cNvSpPr txBox="1"/>
          <p:nvPr/>
        </p:nvSpPr>
        <p:spPr>
          <a:xfrm>
            <a:off x="746760" y="236220"/>
            <a:ext cx="4800600" cy="219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20" b="1" spc="66" kern="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TEAM  /  AI EXECUTION</a:t>
            </a:r>
            <a:endParaRPr lang="ko-KR" sz="1020" dirty="0"/>
          </a:p>
        </p:txBody>
      </p:sp>
      <p:sp>
        <p:nvSpPr>
          <p:cNvPr id="4" name="2026.10.13"/>
          <p:cNvSpPr txBox="1"/>
          <p:nvPr/>
        </p:nvSpPr>
        <p:spPr>
          <a:xfrm>
            <a:off x="10058400" y="236220"/>
            <a:ext cx="170688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2026.10.13</a:t>
            </a:r>
            <a:endParaRPr lang="ko-KR" sz="1080" dirty="0"/>
          </a:p>
        </p:txBody>
      </p:sp>
      <p:sp>
        <p:nvSpPr>
          <p:cNvPr id="5" name="2026년 품질팀 AI 실행 결과 발표 대회"/>
          <p:cNvSpPr txBox="1"/>
          <p:nvPr/>
        </p:nvSpPr>
        <p:spPr>
          <a:xfrm>
            <a:off x="426720" y="525780"/>
            <a:ext cx="10439400" cy="55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76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품질팀 AI 실행 결과 발표 대회</a:t>
            </a:r>
            <a:endParaRPr lang="ko-KR" sz="2760" dirty="0"/>
          </a:p>
        </p:txBody>
      </p:sp>
      <p:sp>
        <p:nvSpPr>
          <p:cNvPr id="6" name="rect_4"/>
          <p:cNvSpPr/>
          <p:nvPr/>
        </p:nvSpPr>
        <p:spPr>
          <a:xfrm>
            <a:off x="10805160" y="617220"/>
            <a:ext cx="960120" cy="289560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12700">
            <a:solidFill>
              <a:srgbClr val="FBF7F0">
                <a:alpha val="0"/>
              </a:srgbClr>
            </a:solidFill>
            <a:prstDash val="solid"/>
          </a:ln>
        </p:spPr>
      </p:sp>
      <p:sp>
        <p:nvSpPr>
          <p:cNvPr id="7" name="운영안"/>
          <p:cNvSpPr txBox="1"/>
          <p:nvPr/>
        </p:nvSpPr>
        <p:spPr>
          <a:xfrm>
            <a:off x="10805160" y="659130"/>
            <a:ext cx="96012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운영안</a:t>
            </a:r>
            <a:endParaRPr lang="ko-KR" sz="1200" dirty="0"/>
          </a:p>
        </p:txBody>
      </p:sp>
      <p:sp>
        <p:nvSpPr>
          <p:cNvPr id="8" name="AI 우수 과제와 활용 역량 향상 사례를 공유하여, 품질팀의 AI 실천 문화를 확"/>
          <p:cNvSpPr txBox="1"/>
          <p:nvPr/>
        </p:nvSpPr>
        <p:spPr>
          <a:xfrm>
            <a:off x="441960" y="1036320"/>
            <a:ext cx="1127760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우수 과제와 활용 역량 향상 사례를 공유하여, 품질팀의 AI 실천 문화를 확산합니다.</a:t>
            </a:r>
            <a:endParaRPr lang="ko-KR" sz="1440" dirty="0"/>
          </a:p>
        </p:txBody>
      </p:sp>
      <p:sp>
        <p:nvSpPr>
          <p:cNvPr id="9" name="rect_7"/>
          <p:cNvSpPr/>
          <p:nvPr/>
        </p:nvSpPr>
        <p:spPr>
          <a:xfrm>
            <a:off x="426720" y="1470660"/>
            <a:ext cx="11338560" cy="693420"/>
          </a:xfrm>
          <a:prstGeom prst="roundRect">
            <a:avLst>
              <a:gd name="adj" fmla="val 9890"/>
            </a:avLst>
          </a:prstGeom>
          <a:solidFill>
            <a:srgbClr val="10284D"/>
          </a:solidFill>
          <a:ln w="12700">
            <a:solidFill>
              <a:srgbClr val="10284D">
                <a:alpha val="0"/>
              </a:srgbClr>
            </a:solidFill>
            <a:prstDash val="solid"/>
          </a:ln>
        </p:spPr>
      </p:sp>
      <p:sp>
        <p:nvSpPr>
          <p:cNvPr id="10" name="rect_8"/>
          <p:cNvSpPr/>
          <p:nvPr/>
        </p:nvSpPr>
        <p:spPr>
          <a:xfrm>
            <a:off x="632460" y="1661160"/>
            <a:ext cx="30480" cy="297180"/>
          </a:xfrm>
          <a:prstGeom prst="rect">
            <a:avLst/>
          </a:prstGeom>
          <a:solidFill>
            <a:srgbClr val="B98743"/>
          </a:solidFill>
          <a:ln w="12700">
            <a:solidFill>
              <a:srgbClr val="B98743">
                <a:alpha val="0"/>
              </a:srgbClr>
            </a:solidFill>
            <a:prstDash val="solid"/>
          </a:ln>
        </p:spPr>
      </p:sp>
      <p:sp>
        <p:nvSpPr>
          <p:cNvPr id="11" name="AI를 학습하는 단계에서, 활용하고 성과 내는 AI로"/>
          <p:cNvSpPr txBox="1"/>
          <p:nvPr/>
        </p:nvSpPr>
        <p:spPr>
          <a:xfrm>
            <a:off x="822960" y="1645920"/>
            <a:ext cx="10439400" cy="393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9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학습하는 단계에서, 활용하고 성과 내는 AI로</a:t>
            </a:r>
            <a:endParaRPr lang="ko-KR" sz="1920" dirty="0"/>
          </a:p>
        </p:txBody>
      </p:sp>
      <p:sp>
        <p:nvSpPr>
          <p:cNvPr id="12" name="01"/>
          <p:cNvSpPr txBox="1"/>
          <p:nvPr/>
        </p:nvSpPr>
        <p:spPr>
          <a:xfrm>
            <a:off x="426720" y="2392680"/>
            <a:ext cx="3657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3" name="대회 운영 개요"/>
          <p:cNvSpPr txBox="1"/>
          <p:nvPr/>
        </p:nvSpPr>
        <p:spPr>
          <a:xfrm>
            <a:off x="792480" y="2362200"/>
            <a:ext cx="4572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대회 운영 개요</a:t>
            </a:r>
            <a:endParaRPr lang="ko-KR" sz="1680" dirty="0"/>
          </a:p>
        </p:txBody>
      </p:sp>
      <p:sp>
        <p:nvSpPr>
          <p:cNvPr id="14" name="02"/>
          <p:cNvSpPr txBox="1"/>
          <p:nvPr/>
        </p:nvSpPr>
        <p:spPr>
          <a:xfrm>
            <a:off x="6103620" y="2392680"/>
            <a:ext cx="3657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5" name="본선 프로그램"/>
          <p:cNvSpPr txBox="1"/>
          <p:nvPr/>
        </p:nvSpPr>
        <p:spPr>
          <a:xfrm>
            <a:off x="6469380" y="2362200"/>
            <a:ext cx="3429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프로그램</a:t>
            </a:r>
            <a:endParaRPr lang="ko-KR" sz="1680" dirty="0"/>
          </a:p>
        </p:txBody>
      </p:sp>
      <p:sp>
        <p:nvSpPr>
          <p:cNvPr id="16" name="rect_14"/>
          <p:cNvSpPr/>
          <p:nvPr/>
        </p:nvSpPr>
        <p:spPr>
          <a:xfrm>
            <a:off x="9517380" y="2362200"/>
            <a:ext cx="2247900" cy="274320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12700">
            <a:solidFill>
              <a:srgbClr val="FBF7F0">
                <a:alpha val="0"/>
              </a:srgbClr>
            </a:solidFill>
            <a:prstDash val="solid"/>
          </a:ln>
        </p:spPr>
      </p:sp>
      <p:sp>
        <p:nvSpPr>
          <p:cNvPr id="17" name="11월 2주 · 약 90분(안)"/>
          <p:cNvSpPr txBox="1"/>
          <p:nvPr/>
        </p:nvSpPr>
        <p:spPr>
          <a:xfrm>
            <a:off x="9517380" y="2396490"/>
            <a:ext cx="22479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 · 약 90분(안)</a:t>
            </a:r>
            <a:endParaRPr lang="ko-KR" sz="1200" dirty="0"/>
          </a:p>
        </p:txBody>
      </p:sp>
      <p:sp>
        <p:nvSpPr>
          <p:cNvPr id="18" name="rect_16"/>
          <p:cNvSpPr/>
          <p:nvPr/>
        </p:nvSpPr>
        <p:spPr>
          <a:xfrm>
            <a:off x="426720" y="2796540"/>
            <a:ext cx="5280660" cy="2042160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7620">
            <a:solidFill>
              <a:srgbClr val="DFE4EB"/>
            </a:solidFill>
            <a:prstDash val="solid"/>
          </a:ln>
        </p:spPr>
      </p:sp>
      <p:sp>
        <p:nvSpPr>
          <p:cNvPr id="19" name="rect_17"/>
          <p:cNvSpPr/>
          <p:nvPr/>
        </p:nvSpPr>
        <p:spPr>
          <a:xfrm>
            <a:off x="426720" y="2796540"/>
            <a:ext cx="1280160" cy="2042160"/>
          </a:xfrm>
          <a:prstGeom prst="roundRect">
            <a:avLst>
              <a:gd name="adj" fmla="val 2976"/>
            </a:avLst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20" name="line_18"/>
          <p:cNvSpPr/>
          <p:nvPr/>
        </p:nvSpPr>
        <p:spPr>
          <a:xfrm>
            <a:off x="426720" y="3413760"/>
            <a:ext cx="5280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21" name="line_19"/>
          <p:cNvSpPr/>
          <p:nvPr/>
        </p:nvSpPr>
        <p:spPr>
          <a:xfrm>
            <a:off x="426720" y="4206240"/>
            <a:ext cx="5280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22" name="예선"/>
          <p:cNvSpPr txBox="1"/>
          <p:nvPr/>
        </p:nvSpPr>
        <p:spPr>
          <a:xfrm>
            <a:off x="594360" y="2903220"/>
            <a:ext cx="9906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예선</a:t>
            </a:r>
            <a:endParaRPr lang="ko-KR" sz="1380" dirty="0"/>
          </a:p>
        </p:txBody>
      </p:sp>
      <p:sp>
        <p:nvSpPr>
          <p:cNvPr id="23" name="~10월"/>
          <p:cNvSpPr txBox="1"/>
          <p:nvPr/>
        </p:nvSpPr>
        <p:spPr>
          <a:xfrm>
            <a:off x="594360" y="3147060"/>
            <a:ext cx="99060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~10월</a:t>
            </a:r>
            <a:endParaRPr lang="ko-KR" sz="1140" dirty="0"/>
          </a:p>
        </p:txBody>
      </p:sp>
      <p:sp>
        <p:nvSpPr>
          <p:cNvPr id="24" name="그룹·PJT별 우수 과제 추천"/>
          <p:cNvSpPr txBox="1"/>
          <p:nvPr/>
        </p:nvSpPr>
        <p:spPr>
          <a:xfrm>
            <a:off x="1874520" y="2887980"/>
            <a:ext cx="36957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그룹·PJT별 우수 과제 추천</a:t>
            </a:r>
            <a:endParaRPr lang="ko-KR" sz="1380" dirty="0"/>
          </a:p>
        </p:txBody>
      </p:sp>
      <p:sp>
        <p:nvSpPr>
          <p:cNvPr id="25" name="1~2건"/>
          <p:cNvSpPr txBox="1"/>
          <p:nvPr/>
        </p:nvSpPr>
        <p:spPr>
          <a:xfrm>
            <a:off x="1874520" y="3154680"/>
            <a:ext cx="36576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1~2건</a:t>
            </a:r>
            <a:endParaRPr lang="ko-KR" sz="1320" dirty="0"/>
          </a:p>
        </p:txBody>
      </p:sp>
      <p:sp>
        <p:nvSpPr>
          <p:cNvPr id="26" name="본선"/>
          <p:cNvSpPr txBox="1"/>
          <p:nvPr/>
        </p:nvSpPr>
        <p:spPr>
          <a:xfrm>
            <a:off x="594360" y="3535680"/>
            <a:ext cx="9906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</a:t>
            </a:r>
            <a:endParaRPr lang="ko-KR" sz="1380" dirty="0"/>
          </a:p>
        </p:txBody>
      </p:sp>
      <p:sp>
        <p:nvSpPr>
          <p:cNvPr id="27" name="11월 2주"/>
          <p:cNvSpPr txBox="1"/>
          <p:nvPr/>
        </p:nvSpPr>
        <p:spPr>
          <a:xfrm>
            <a:off x="594360" y="3787140"/>
            <a:ext cx="103632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</a:t>
            </a:r>
            <a:endParaRPr lang="ko-KR" sz="1140" dirty="0"/>
          </a:p>
        </p:txBody>
      </p:sp>
      <p:sp>
        <p:nvSpPr>
          <p:cNvPr id="28" name="우수 과제 5~7건 발표"/>
          <p:cNvSpPr txBox="1"/>
          <p:nvPr/>
        </p:nvSpPr>
        <p:spPr>
          <a:xfrm>
            <a:off x="1874520" y="3535680"/>
            <a:ext cx="365760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과제 5~7건 발표</a:t>
            </a:r>
            <a:endParaRPr lang="ko-KR" sz="1440" dirty="0"/>
          </a:p>
        </p:txBody>
      </p:sp>
      <p:sp>
        <p:nvSpPr>
          <p:cNvPr id="29" name="과제별 발표 7분 + 질의응답 2분"/>
          <p:cNvSpPr txBox="1"/>
          <p:nvPr/>
        </p:nvSpPr>
        <p:spPr>
          <a:xfrm>
            <a:off x="1874520" y="3863340"/>
            <a:ext cx="36576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발표 7분 + 질의응답 2분</a:t>
            </a:r>
            <a:endParaRPr lang="ko-KR" sz="1320" dirty="0"/>
          </a:p>
        </p:txBody>
      </p:sp>
      <p:sp>
        <p:nvSpPr>
          <p:cNvPr id="30" name="심사위원"/>
          <p:cNvSpPr txBox="1"/>
          <p:nvPr/>
        </p:nvSpPr>
        <p:spPr>
          <a:xfrm>
            <a:off x="594360" y="4381500"/>
            <a:ext cx="108204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심사위원</a:t>
            </a:r>
            <a:endParaRPr lang="ko-KR" sz="1380" dirty="0"/>
          </a:p>
        </p:txBody>
      </p:sp>
      <p:sp>
        <p:nvSpPr>
          <p:cNvPr id="31" name="품질팀장 · 그룹장/PL"/>
          <p:cNvSpPr txBox="1"/>
          <p:nvPr/>
        </p:nvSpPr>
        <p:spPr>
          <a:xfrm>
            <a:off x="1874520" y="4381500"/>
            <a:ext cx="36576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380" dirty="0"/>
          </a:p>
        </p:txBody>
      </p:sp>
      <p:sp>
        <p:nvSpPr>
          <p:cNvPr id="32" name="line_30"/>
          <p:cNvSpPr/>
          <p:nvPr/>
        </p:nvSpPr>
        <p:spPr>
          <a:xfrm>
            <a:off x="6103620" y="2796540"/>
            <a:ext cx="5661660" cy="0"/>
          </a:xfrm>
          <a:prstGeom prst="line">
            <a:avLst/>
          </a:prstGeom>
          <a:noFill/>
          <a:ln w="15240">
            <a:solidFill>
              <a:srgbClr val="10284D"/>
            </a:solidFill>
            <a:prstDash val="solid"/>
            <a:headEnd type="none"/>
            <a:tailEnd type="none"/>
          </a:ln>
        </p:spPr>
      </p:sp>
      <p:sp>
        <p:nvSpPr>
          <p:cNvPr id="33" name="5분"/>
          <p:cNvSpPr txBox="1"/>
          <p:nvPr/>
        </p:nvSpPr>
        <p:spPr>
          <a:xfrm>
            <a:off x="6217920" y="290322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ko-KR" sz="1380" dirty="0"/>
          </a:p>
        </p:txBody>
      </p:sp>
      <p:sp>
        <p:nvSpPr>
          <p:cNvPr id="34" name="개회사 · 도입 영상"/>
          <p:cNvSpPr txBox="1"/>
          <p:nvPr/>
        </p:nvSpPr>
        <p:spPr>
          <a:xfrm>
            <a:off x="7094220" y="289560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개회사 · 도입 영상</a:t>
            </a:r>
            <a:endParaRPr lang="ko-KR" sz="1380" dirty="0"/>
          </a:p>
        </p:txBody>
      </p:sp>
      <p:sp>
        <p:nvSpPr>
          <p:cNvPr id="35" name="사회자"/>
          <p:cNvSpPr txBox="1"/>
          <p:nvPr/>
        </p:nvSpPr>
        <p:spPr>
          <a:xfrm>
            <a:off x="10355580" y="2918460"/>
            <a:ext cx="1295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endParaRPr lang="ko-KR" sz="1200" dirty="0"/>
          </a:p>
        </p:txBody>
      </p:sp>
      <p:sp>
        <p:nvSpPr>
          <p:cNvPr id="36" name="line_34"/>
          <p:cNvSpPr/>
          <p:nvPr/>
        </p:nvSpPr>
        <p:spPr>
          <a:xfrm>
            <a:off x="6103620" y="325374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37" name="20분"/>
          <p:cNvSpPr txBox="1"/>
          <p:nvPr/>
        </p:nvSpPr>
        <p:spPr>
          <a:xfrm>
            <a:off x="6217920" y="335280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ko-KR" sz="1380" dirty="0"/>
          </a:p>
        </p:txBody>
      </p:sp>
      <p:sp>
        <p:nvSpPr>
          <p:cNvPr id="38" name="기조연설"/>
          <p:cNvSpPr txBox="1"/>
          <p:nvPr/>
        </p:nvSpPr>
        <p:spPr>
          <a:xfrm>
            <a:off x="7094220" y="334518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기조연설</a:t>
            </a:r>
            <a:endParaRPr lang="ko-KR" sz="1380" dirty="0"/>
          </a:p>
        </p:txBody>
      </p:sp>
      <p:sp>
        <p:nvSpPr>
          <p:cNvPr id="39" name="품질팀장"/>
          <p:cNvSpPr txBox="1"/>
          <p:nvPr/>
        </p:nvSpPr>
        <p:spPr>
          <a:xfrm>
            <a:off x="10355580" y="3368040"/>
            <a:ext cx="1295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200" dirty="0"/>
          </a:p>
        </p:txBody>
      </p:sp>
      <p:sp>
        <p:nvSpPr>
          <p:cNvPr id="40" name="line_38"/>
          <p:cNvSpPr/>
          <p:nvPr/>
        </p:nvSpPr>
        <p:spPr>
          <a:xfrm>
            <a:off x="6103620" y="370332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41" name="rect_39"/>
          <p:cNvSpPr/>
          <p:nvPr/>
        </p:nvSpPr>
        <p:spPr>
          <a:xfrm>
            <a:off x="6103620" y="3703320"/>
            <a:ext cx="5661660" cy="640080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>
                <a:alpha val="0"/>
              </a:srgbClr>
            </a:solidFill>
            <a:prstDash val="solid"/>
          </a:ln>
        </p:spPr>
      </p:sp>
      <p:sp>
        <p:nvSpPr>
          <p:cNvPr id="42" name="7+2분"/>
          <p:cNvSpPr txBox="1"/>
          <p:nvPr/>
        </p:nvSpPr>
        <p:spPr>
          <a:xfrm>
            <a:off x="6217920" y="380238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7+2분</a:t>
            </a:r>
            <a:endParaRPr lang="ko-KR" sz="1380" dirty="0"/>
          </a:p>
        </p:txBody>
      </p:sp>
      <p:sp>
        <p:nvSpPr>
          <p:cNvPr id="43" name="본선 발표"/>
          <p:cNvSpPr txBox="1"/>
          <p:nvPr/>
        </p:nvSpPr>
        <p:spPr>
          <a:xfrm>
            <a:off x="7094220" y="379476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발표</a:t>
            </a:r>
            <a:endParaRPr lang="ko-KR" sz="1380" dirty="0"/>
          </a:p>
        </p:txBody>
      </p:sp>
      <p:sp>
        <p:nvSpPr>
          <p:cNvPr id="44" name="발표 7분 + Q&amp;amp;A 2분 / 과제별"/>
          <p:cNvSpPr txBox="1"/>
          <p:nvPr/>
        </p:nvSpPr>
        <p:spPr>
          <a:xfrm>
            <a:off x="7094220" y="4053840"/>
            <a:ext cx="31470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7분 + Q&amp;A 2분 / 과제별</a:t>
            </a:r>
            <a:endParaRPr lang="ko-KR" sz="1140" dirty="0"/>
          </a:p>
        </p:txBody>
      </p:sp>
      <p:sp>
        <p:nvSpPr>
          <p:cNvPr id="45" name="과제 발표자"/>
          <p:cNvSpPr txBox="1"/>
          <p:nvPr/>
        </p:nvSpPr>
        <p:spPr>
          <a:xfrm>
            <a:off x="10355580" y="3817620"/>
            <a:ext cx="1295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발표자</a:t>
            </a:r>
            <a:endParaRPr lang="ko-KR" sz="1200" dirty="0"/>
          </a:p>
        </p:txBody>
      </p:sp>
      <p:sp>
        <p:nvSpPr>
          <p:cNvPr id="46" name="line_44"/>
          <p:cNvSpPr/>
          <p:nvPr/>
        </p:nvSpPr>
        <p:spPr>
          <a:xfrm>
            <a:off x="6103620" y="434340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47" name="10분"/>
          <p:cNvSpPr txBox="1"/>
          <p:nvPr/>
        </p:nvSpPr>
        <p:spPr>
          <a:xfrm>
            <a:off x="6217920" y="4442460"/>
            <a:ext cx="76962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ko-KR" sz="1380" dirty="0"/>
          </a:p>
        </p:txBody>
      </p:sp>
      <p:sp>
        <p:nvSpPr>
          <p:cNvPr id="48" name="심사 · 시상"/>
          <p:cNvSpPr txBox="1"/>
          <p:nvPr/>
        </p:nvSpPr>
        <p:spPr>
          <a:xfrm>
            <a:off x="7094220" y="4434840"/>
            <a:ext cx="29718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82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 · 시상</a:t>
            </a:r>
            <a:endParaRPr lang="ko-KR" sz="1380" dirty="0"/>
          </a:p>
        </p:txBody>
      </p:sp>
      <p:sp>
        <p:nvSpPr>
          <p:cNvPr id="49" name="품질팀장 그룹장/PL"/>
          <p:cNvSpPr txBox="1"/>
          <p:nvPr/>
        </p:nvSpPr>
        <p:spPr>
          <a:xfrm>
            <a:off x="10355580" y="4389120"/>
            <a:ext cx="12954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080" dirty="0"/>
          </a:p>
        </p:txBody>
      </p:sp>
      <p:sp>
        <p:nvSpPr>
          <p:cNvPr id="50" name="품질팀장 그룹장/PL_1"/>
          <p:cNvSpPr txBox="1"/>
          <p:nvPr/>
        </p:nvSpPr>
        <p:spPr>
          <a:xfrm>
            <a:off x="10355580" y="4560570"/>
            <a:ext cx="12954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그룹장/PL</a:t>
            </a:r>
            <a:endParaRPr lang="ko-KR" sz="1080" dirty="0"/>
          </a:p>
        </p:txBody>
      </p:sp>
      <p:sp>
        <p:nvSpPr>
          <p:cNvPr id="51" name="line_48"/>
          <p:cNvSpPr/>
          <p:nvPr/>
        </p:nvSpPr>
        <p:spPr>
          <a:xfrm>
            <a:off x="6103620" y="4838700"/>
            <a:ext cx="56616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52" name="03"/>
          <p:cNvSpPr txBox="1"/>
          <p:nvPr/>
        </p:nvSpPr>
        <p:spPr>
          <a:xfrm>
            <a:off x="426720" y="5059680"/>
            <a:ext cx="36576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B987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53" name="시상 방향"/>
          <p:cNvSpPr txBox="1"/>
          <p:nvPr/>
        </p:nvSpPr>
        <p:spPr>
          <a:xfrm>
            <a:off x="792480" y="5029200"/>
            <a:ext cx="4572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시상 방향</a:t>
            </a:r>
            <a:endParaRPr lang="ko-KR" sz="1680" dirty="0"/>
          </a:p>
        </p:txBody>
      </p:sp>
      <p:sp>
        <p:nvSpPr>
          <p:cNvPr id="54" name="rect_51"/>
          <p:cNvSpPr/>
          <p:nvPr/>
        </p:nvSpPr>
        <p:spPr>
          <a:xfrm>
            <a:off x="426720" y="5463540"/>
            <a:ext cx="3627120" cy="868680"/>
          </a:xfrm>
          <a:prstGeom prst="roundRect">
            <a:avLst>
              <a:gd name="adj" fmla="val 5263"/>
            </a:avLst>
          </a:prstGeom>
          <a:solidFill>
            <a:srgbClr val="FBF7F0"/>
          </a:solidFill>
          <a:ln w="7620">
            <a:solidFill>
              <a:srgbClr val="E8DBCA"/>
            </a:solidFill>
            <a:prstDash val="solid"/>
          </a:ln>
        </p:spPr>
      </p:sp>
      <p:sp>
        <p:nvSpPr>
          <p:cNvPr id="55" name="line_52"/>
          <p:cNvSpPr/>
          <p:nvPr/>
        </p:nvSpPr>
        <p:spPr>
          <a:xfrm>
            <a:off x="701040" y="5734050"/>
            <a:ext cx="167640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6" name="line_53"/>
          <p:cNvSpPr/>
          <p:nvPr/>
        </p:nvSpPr>
        <p:spPr>
          <a:xfrm>
            <a:off x="701040" y="5734050"/>
            <a:ext cx="16764" cy="11734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7" name="line_54"/>
          <p:cNvSpPr/>
          <p:nvPr/>
        </p:nvSpPr>
        <p:spPr>
          <a:xfrm flipH="1">
            <a:off x="851916" y="5734050"/>
            <a:ext cx="16764" cy="11734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8" name="line_55"/>
          <p:cNvSpPr/>
          <p:nvPr/>
        </p:nvSpPr>
        <p:spPr>
          <a:xfrm>
            <a:off x="717804" y="5851398"/>
            <a:ext cx="67056" cy="5029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59" name="line_56"/>
          <p:cNvSpPr/>
          <p:nvPr/>
        </p:nvSpPr>
        <p:spPr>
          <a:xfrm flipH="1">
            <a:off x="784860" y="5851398"/>
            <a:ext cx="67056" cy="5029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0" name="line_57"/>
          <p:cNvSpPr/>
          <p:nvPr/>
        </p:nvSpPr>
        <p:spPr>
          <a:xfrm>
            <a:off x="784860" y="5901690"/>
            <a:ext cx="0" cy="7543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1" name="line_58"/>
          <p:cNvSpPr/>
          <p:nvPr/>
        </p:nvSpPr>
        <p:spPr>
          <a:xfrm>
            <a:off x="717804" y="5985510"/>
            <a:ext cx="13411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2" name="line_59"/>
          <p:cNvSpPr/>
          <p:nvPr/>
        </p:nvSpPr>
        <p:spPr>
          <a:xfrm flipH="1">
            <a:off x="650748" y="5767578"/>
            <a:ext cx="5029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3" name="line_60"/>
          <p:cNvSpPr/>
          <p:nvPr/>
        </p:nvSpPr>
        <p:spPr>
          <a:xfrm>
            <a:off x="650748" y="5767578"/>
            <a:ext cx="8382" cy="7543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4" name="line_61"/>
          <p:cNvSpPr/>
          <p:nvPr/>
        </p:nvSpPr>
        <p:spPr>
          <a:xfrm>
            <a:off x="659130" y="5843016"/>
            <a:ext cx="67056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5" name="line_62"/>
          <p:cNvSpPr/>
          <p:nvPr/>
        </p:nvSpPr>
        <p:spPr>
          <a:xfrm>
            <a:off x="868680" y="5767578"/>
            <a:ext cx="5029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6" name="line_63"/>
          <p:cNvSpPr/>
          <p:nvPr/>
        </p:nvSpPr>
        <p:spPr>
          <a:xfrm flipH="1">
            <a:off x="910590" y="5767578"/>
            <a:ext cx="8382" cy="7543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7" name="line_64"/>
          <p:cNvSpPr/>
          <p:nvPr/>
        </p:nvSpPr>
        <p:spPr>
          <a:xfrm flipH="1">
            <a:off x="843534" y="5843016"/>
            <a:ext cx="67056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68" name="과제 우수상"/>
          <p:cNvSpPr txBox="1"/>
          <p:nvPr/>
        </p:nvSpPr>
        <p:spPr>
          <a:xfrm>
            <a:off x="1082040" y="5554980"/>
            <a:ext cx="277368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우수상</a:t>
            </a:r>
            <a:endParaRPr lang="ko-KR" sz="1440" dirty="0"/>
          </a:p>
        </p:txBody>
      </p:sp>
      <p:sp>
        <p:nvSpPr>
          <p:cNvPr id="69" name="AI 과제 완성도 및 과제 성과 우수"/>
          <p:cNvSpPr txBox="1"/>
          <p:nvPr/>
        </p:nvSpPr>
        <p:spPr>
          <a:xfrm>
            <a:off x="1082040" y="585216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과제 완성도 및</a:t>
            </a:r>
            <a:endParaRPr lang="ko-KR" sz="1200" dirty="0"/>
          </a:p>
        </p:txBody>
      </p:sp>
      <p:sp>
        <p:nvSpPr>
          <p:cNvPr id="70" name="AI 과제 완성도 및 과제 성과 우수_1"/>
          <p:cNvSpPr txBox="1"/>
          <p:nvPr/>
        </p:nvSpPr>
        <p:spPr>
          <a:xfrm>
            <a:off x="1082040" y="605028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성과 우수</a:t>
            </a:r>
            <a:endParaRPr lang="ko-KR" sz="1200" dirty="0"/>
          </a:p>
        </p:txBody>
      </p:sp>
      <p:sp>
        <p:nvSpPr>
          <p:cNvPr id="71" name="rect_67"/>
          <p:cNvSpPr/>
          <p:nvPr/>
        </p:nvSpPr>
        <p:spPr>
          <a:xfrm>
            <a:off x="4282440" y="5463540"/>
            <a:ext cx="3627120" cy="868680"/>
          </a:xfrm>
          <a:prstGeom prst="roundRect">
            <a:avLst>
              <a:gd name="adj" fmla="val 5263"/>
            </a:avLst>
          </a:prstGeom>
          <a:solidFill>
            <a:srgbClr val="FBF7F0"/>
          </a:solidFill>
          <a:ln w="7620">
            <a:solidFill>
              <a:srgbClr val="E8DBCA"/>
            </a:solidFill>
            <a:prstDash val="solid"/>
          </a:ln>
        </p:spPr>
      </p:sp>
      <p:sp>
        <p:nvSpPr>
          <p:cNvPr id="72" name="rect_68"/>
          <p:cNvSpPr/>
          <p:nvPr/>
        </p:nvSpPr>
        <p:spPr>
          <a:xfrm>
            <a:off x="4514850" y="5901690"/>
            <a:ext cx="50292" cy="92202"/>
          </a:xfrm>
          <a:prstGeom prst="rect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73" name="rect_69"/>
          <p:cNvSpPr/>
          <p:nvPr/>
        </p:nvSpPr>
        <p:spPr>
          <a:xfrm>
            <a:off x="4615434" y="5843016"/>
            <a:ext cx="50292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74" name="rect_70"/>
          <p:cNvSpPr/>
          <p:nvPr/>
        </p:nvSpPr>
        <p:spPr>
          <a:xfrm>
            <a:off x="4716018" y="5767578"/>
            <a:ext cx="50292" cy="226314"/>
          </a:xfrm>
          <a:prstGeom prst="rect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75" name="line_71"/>
          <p:cNvSpPr/>
          <p:nvPr/>
        </p:nvSpPr>
        <p:spPr>
          <a:xfrm flipV="1">
            <a:off x="4506468" y="5717286"/>
            <a:ext cx="217932" cy="11734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76" name="line_72"/>
          <p:cNvSpPr/>
          <p:nvPr/>
        </p:nvSpPr>
        <p:spPr>
          <a:xfrm>
            <a:off x="4674108" y="5717286"/>
            <a:ext cx="58674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77" name="line_73"/>
          <p:cNvSpPr/>
          <p:nvPr/>
        </p:nvSpPr>
        <p:spPr>
          <a:xfrm>
            <a:off x="4732782" y="5717286"/>
            <a:ext cx="0" cy="58674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78" name="개인 발전상"/>
          <p:cNvSpPr txBox="1"/>
          <p:nvPr/>
        </p:nvSpPr>
        <p:spPr>
          <a:xfrm>
            <a:off x="4937760" y="5554980"/>
            <a:ext cx="277368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발전상</a:t>
            </a:r>
            <a:endParaRPr lang="ko-KR" sz="1440" dirty="0"/>
          </a:p>
        </p:txBody>
      </p:sp>
      <p:sp>
        <p:nvSpPr>
          <p:cNvPr id="79" name="AI 활용 역량 향상 우수"/>
          <p:cNvSpPr txBox="1"/>
          <p:nvPr/>
        </p:nvSpPr>
        <p:spPr>
          <a:xfrm>
            <a:off x="4937760" y="585216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</a:t>
            </a:r>
            <a:endParaRPr lang="ko-KR" sz="1200" dirty="0"/>
          </a:p>
        </p:txBody>
      </p:sp>
      <p:sp>
        <p:nvSpPr>
          <p:cNvPr id="80" name="AI 활용 역량 향상 우수_1"/>
          <p:cNvSpPr txBox="1"/>
          <p:nvPr/>
        </p:nvSpPr>
        <p:spPr>
          <a:xfrm>
            <a:off x="4937760" y="605028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 우수</a:t>
            </a:r>
            <a:endParaRPr lang="ko-KR" sz="1200" dirty="0"/>
          </a:p>
        </p:txBody>
      </p:sp>
      <p:sp>
        <p:nvSpPr>
          <p:cNvPr id="81" name="rect_76"/>
          <p:cNvSpPr/>
          <p:nvPr/>
        </p:nvSpPr>
        <p:spPr>
          <a:xfrm>
            <a:off x="8138160" y="5463540"/>
            <a:ext cx="3627120" cy="868680"/>
          </a:xfrm>
          <a:prstGeom prst="roundRect">
            <a:avLst>
              <a:gd name="adj" fmla="val 5263"/>
            </a:avLst>
          </a:prstGeom>
          <a:solidFill>
            <a:srgbClr val="FBF7F0"/>
          </a:solidFill>
          <a:ln w="7620">
            <a:solidFill>
              <a:srgbClr val="E8DBCA"/>
            </a:solidFill>
            <a:prstDash val="solid"/>
          </a:ln>
        </p:spPr>
      </p:sp>
      <p:sp>
        <p:nvSpPr>
          <p:cNvPr id="82" name="ellipse_77"/>
          <p:cNvSpPr/>
          <p:nvPr/>
        </p:nvSpPr>
        <p:spPr>
          <a:xfrm>
            <a:off x="8454390" y="5734050"/>
            <a:ext cx="83820" cy="83820"/>
          </a:xfrm>
          <a:prstGeom prst="ellipse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83" name="ellipse_78"/>
          <p:cNvSpPr/>
          <p:nvPr/>
        </p:nvSpPr>
        <p:spPr>
          <a:xfrm>
            <a:off x="8345424" y="5784342"/>
            <a:ext cx="67056" cy="67056"/>
          </a:xfrm>
          <a:prstGeom prst="ellipse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84" name="ellipse_79"/>
          <p:cNvSpPr/>
          <p:nvPr/>
        </p:nvSpPr>
        <p:spPr>
          <a:xfrm>
            <a:off x="8580120" y="5784342"/>
            <a:ext cx="67056" cy="67056"/>
          </a:xfrm>
          <a:prstGeom prst="ellipse">
            <a:avLst/>
          </a:prstGeom>
          <a:solidFill>
            <a:srgbClr val="FFFFFF">
              <a:alpha val="0"/>
            </a:srgbClr>
          </a:solidFill>
          <a:ln w="17602">
            <a:solidFill>
              <a:srgbClr val="B98743"/>
            </a:solidFill>
            <a:prstDash val="solid"/>
          </a:ln>
        </p:spPr>
      </p:sp>
      <p:sp>
        <p:nvSpPr>
          <p:cNvPr id="85" name="line_80"/>
          <p:cNvSpPr/>
          <p:nvPr/>
        </p:nvSpPr>
        <p:spPr>
          <a:xfrm>
            <a:off x="8429244" y="5893308"/>
            <a:ext cx="0" cy="9220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6" name="line_81"/>
          <p:cNvSpPr/>
          <p:nvPr/>
        </p:nvSpPr>
        <p:spPr>
          <a:xfrm flipV="1">
            <a:off x="8429244" y="5859780"/>
            <a:ext cx="41910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7" name="line_82"/>
          <p:cNvSpPr/>
          <p:nvPr/>
        </p:nvSpPr>
        <p:spPr>
          <a:xfrm>
            <a:off x="8471154" y="5859780"/>
            <a:ext cx="50292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8" name="line_83"/>
          <p:cNvSpPr/>
          <p:nvPr/>
        </p:nvSpPr>
        <p:spPr>
          <a:xfrm>
            <a:off x="8521446" y="5859780"/>
            <a:ext cx="41910" cy="33528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89" name="line_84"/>
          <p:cNvSpPr/>
          <p:nvPr/>
        </p:nvSpPr>
        <p:spPr>
          <a:xfrm>
            <a:off x="8563356" y="5893308"/>
            <a:ext cx="0" cy="92202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0" name="line_85"/>
          <p:cNvSpPr/>
          <p:nvPr/>
        </p:nvSpPr>
        <p:spPr>
          <a:xfrm flipH="1">
            <a:off x="8328660" y="5893308"/>
            <a:ext cx="25146" cy="2514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1" name="line_86"/>
          <p:cNvSpPr/>
          <p:nvPr/>
        </p:nvSpPr>
        <p:spPr>
          <a:xfrm>
            <a:off x="8328660" y="5918454"/>
            <a:ext cx="0" cy="6705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2" name="line_87"/>
          <p:cNvSpPr/>
          <p:nvPr/>
        </p:nvSpPr>
        <p:spPr>
          <a:xfrm>
            <a:off x="8638794" y="5893308"/>
            <a:ext cx="25146" cy="2514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3" name="line_88"/>
          <p:cNvSpPr/>
          <p:nvPr/>
        </p:nvSpPr>
        <p:spPr>
          <a:xfrm>
            <a:off x="8663940" y="5918454"/>
            <a:ext cx="0" cy="67056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4" name="line_89"/>
          <p:cNvSpPr/>
          <p:nvPr/>
        </p:nvSpPr>
        <p:spPr>
          <a:xfrm>
            <a:off x="8437626" y="5985510"/>
            <a:ext cx="117348" cy="0"/>
          </a:xfrm>
          <a:prstGeom prst="line">
            <a:avLst/>
          </a:prstGeom>
          <a:noFill/>
          <a:ln w="17602">
            <a:solidFill>
              <a:srgbClr val="B98743"/>
            </a:solidFill>
            <a:prstDash val="solid"/>
            <a:headEnd type="none"/>
            <a:tailEnd type="none"/>
          </a:ln>
        </p:spPr>
      </p:sp>
      <p:sp>
        <p:nvSpPr>
          <p:cNvPr id="95" name="조직 실천상"/>
          <p:cNvSpPr txBox="1"/>
          <p:nvPr/>
        </p:nvSpPr>
        <p:spPr>
          <a:xfrm>
            <a:off x="8793480" y="5554980"/>
            <a:ext cx="277368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02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실천상</a:t>
            </a:r>
            <a:endParaRPr lang="ko-KR" sz="1440" dirty="0"/>
          </a:p>
        </p:txBody>
      </p:sp>
      <p:sp>
        <p:nvSpPr>
          <p:cNvPr id="96" name="조직별 AI 활용 참여 및 확산 우수"/>
          <p:cNvSpPr txBox="1"/>
          <p:nvPr/>
        </p:nvSpPr>
        <p:spPr>
          <a:xfrm>
            <a:off x="8793480" y="585216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AI 활용</a:t>
            </a:r>
            <a:endParaRPr lang="ko-KR" sz="1200" dirty="0"/>
          </a:p>
        </p:txBody>
      </p:sp>
      <p:sp>
        <p:nvSpPr>
          <p:cNvPr id="97" name="조직별 AI 활용 참여 및 확산 우수_1"/>
          <p:cNvSpPr txBox="1"/>
          <p:nvPr/>
        </p:nvSpPr>
        <p:spPr>
          <a:xfrm>
            <a:off x="8793480" y="6050280"/>
            <a:ext cx="27736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및 확산 우수</a:t>
            </a:r>
            <a:endParaRPr lang="ko-KR" sz="1200" dirty="0"/>
          </a:p>
        </p:txBody>
      </p:sp>
      <p:sp>
        <p:nvSpPr>
          <p:cNvPr id="98" name="line_92"/>
          <p:cNvSpPr/>
          <p:nvPr/>
        </p:nvSpPr>
        <p:spPr>
          <a:xfrm>
            <a:off x="426720" y="6530340"/>
            <a:ext cx="11338560" cy="0"/>
          </a:xfrm>
          <a:prstGeom prst="line">
            <a:avLst/>
          </a:prstGeom>
          <a:noFill/>
          <a:ln w="7620">
            <a:solidFill>
              <a:srgbClr val="DFE4EB"/>
            </a:solidFill>
            <a:prstDash val="solid"/>
            <a:headEnd type="none"/>
            <a:tailEnd type="none"/>
          </a:ln>
        </p:spPr>
      </p:sp>
      <p:sp>
        <p:nvSpPr>
          <p:cNvPr id="99" name="품질팀 AI 실천 문화 확산"/>
          <p:cNvSpPr txBox="1"/>
          <p:nvPr/>
        </p:nvSpPr>
        <p:spPr>
          <a:xfrm>
            <a:off x="426720" y="6606540"/>
            <a:ext cx="6248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 AI 실천 문화 확산</a:t>
            </a:r>
            <a:endParaRPr lang="ko-KR" sz="900" dirty="0"/>
          </a:p>
        </p:txBody>
      </p:sp>
      <p:sp>
        <p:nvSpPr>
          <p:cNvPr id="100" name="2026  /  대회 운영안"/>
          <p:cNvSpPr txBox="1"/>
          <p:nvPr/>
        </p:nvSpPr>
        <p:spPr>
          <a:xfrm>
            <a:off x="9479280" y="6606540"/>
            <a:ext cx="22860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4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 /  대회 운영안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품질팀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01_네이비골드_보고형</dc:title>
  <dc:subject>2026년 품질팀 AI 실행 결과 발표 대회 운영안</dc:subject>
  <dc:creator>품질팀</dc:creator>
  <cp:lastModifiedBy>품질팀</cp:lastModifiedBy>
  <cp:revision>1</cp:revision>
  <dcterms:created xsi:type="dcterms:W3CDTF">2026-10-13T02:24:30Z</dcterms:created>
  <dcterms:modified xsi:type="dcterms:W3CDTF">2026-10-13T02:24:30Z</dcterms:modified>
</cp:coreProperties>
</file>